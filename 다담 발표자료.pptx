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SemiBold"/>
      <p:bold r:id="rId16"/>
    </p:embeddedFont>
    <p:embeddedFont>
      <p:font typeface="Pretendard Medium"/>
      <p:bold r:id="rId17"/>
    </p:embeddedFont>
    <p:embeddedFont>
      <p:font typeface="Pretendard Bold"/>
      <p:bold r:id="rId18"/>
    </p:embeddedFont>
    <p:embeddedFont>
      <p:font typeface="Pretendard Black"/>
      <p:bold r:id="rId19"/>
    </p:embeddedFont>
    <p:embeddedFont>
      <p:font typeface="Pretendard Regular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20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8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695700" y="406400"/>
            <a:ext cx="9144000" cy="1289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789900" y="12700000"/>
            <a:ext cx="5207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136900" y="6565900"/>
            <a:ext cx="9004300" cy="76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1348700" y="12700000"/>
            <a:ext cx="2921000" cy="520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933" b="false" i="false" u="none" strike="noStrike">
                <a:solidFill>
                  <a:srgbClr val="787878"/>
                </a:solidFill>
                <a:latin typeface="Pretendard SemiBold"/>
              </a:rPr>
              <a:t>MIRICOMPANY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36900" y="9232900"/>
            <a:ext cx="4826000" cy="1676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Pretendard Medium"/>
              </a:rPr>
              <a:t>윤수진</a:t>
            </a:r>
            <a:r>
              <a:rPr lang="en-US" sz="2933" b="false" i="false" u="none" strike="noStrike">
                <a:solidFill>
                  <a:srgbClr val="FFFFFF"/>
                </a:solidFill>
                <a:latin typeface="Pretendard Medium"/>
              </a:rPr>
              <a:t> 2024042093</a:t>
            </a:r>
          </a:p>
          <a:p>
            <a:pPr algn="l" lvl="0">
              <a:lnSpc>
                <a:spcPct val="128650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Pretendard Medium"/>
              </a:rPr>
              <a:t>윤나희</a:t>
            </a:r>
            <a:r>
              <a:rPr lang="en-US" sz="2933" b="false" i="false" u="none" strike="noStrike">
                <a:solidFill>
                  <a:srgbClr val="FFFFFF"/>
                </a:solidFill>
                <a:latin typeface="Pretendard Medium"/>
              </a:rPr>
              <a:t> 2023078047</a:t>
            </a:r>
          </a:p>
          <a:p>
            <a:pPr algn="l" lvl="0">
              <a:lnSpc>
                <a:spcPct val="128650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Pretendard Medium"/>
              </a:rPr>
              <a:t>박민규</a:t>
            </a:r>
            <a:r>
              <a:rPr lang="en-US" sz="2933" b="false" i="false" u="none" strike="noStrike">
                <a:solidFill>
                  <a:srgbClr val="FFFFFF"/>
                </a:solidFill>
                <a:latin typeface="Pretendard Medium"/>
              </a:rPr>
              <a:t>2024042076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36900" y="3225800"/>
            <a:ext cx="9271000" cy="3543300"/>
          </a:xfrm>
          <a:prstGeom prst="rect">
            <a:avLst/>
          </a:prstGeom>
        </p:spPr>
        <p:txBody>
          <a:bodyPr anchor="t" rtlCol="false" lIns="0" tIns="57234" rIns="0" bIns="0"/>
          <a:lstStyle/>
          <a:p>
            <a:pPr algn="l" lvl="0">
              <a:lnSpc>
                <a:spcPct val="105410"/>
              </a:lnSpc>
            </a:pP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다담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/ Dadam
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세대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간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소통을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위한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가족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대화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/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약속</a:t>
            </a:r>
            <a:r>
              <a:rPr lang="en-US" sz="6933" b="false" i="false" u="none" strike="noStrike" spc="208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6933" b="false" i="false" u="none" strike="noStrike" spc="208">
                <a:solidFill>
                  <a:srgbClr val="FFFFFF"/>
                </a:solidFill>
                <a:ea typeface="Pretendard SemiBold"/>
              </a:rPr>
              <a:t>플랫폼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5200" y="3962400"/>
            <a:ext cx="221488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35200" y="5486400"/>
            <a:ext cx="1320800" cy="1244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35200" y="7556500"/>
            <a:ext cx="1320800" cy="1244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35200" y="9626600"/>
            <a:ext cx="1320800" cy="1244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48700" y="7556500"/>
            <a:ext cx="1320800" cy="1244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48700" y="9626600"/>
            <a:ext cx="1320800" cy="124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48700" y="5486400"/>
            <a:ext cx="1320800" cy="1244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898900" y="7810500"/>
            <a:ext cx="5803900" cy="736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개발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배경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및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목적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8900" y="5715000"/>
            <a:ext cx="3632200" cy="787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프로젝트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소개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63200" y="5740400"/>
            <a:ext cx="7886700" cy="736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프로젝트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주요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기능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98900" y="9880600"/>
            <a:ext cx="2527300" cy="736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개발환경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63200" y="7810500"/>
            <a:ext cx="7962900" cy="736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기대효과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및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활용</a:t>
            </a:r>
            <a:r>
              <a:rPr lang="en-US" sz="4400" b="false" i="false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false" i="false" u="none" strike="noStrike">
                <a:solidFill>
                  <a:srgbClr val="595959"/>
                </a:solidFill>
                <a:ea typeface="Pretendard Medium"/>
              </a:rPr>
              <a:t>분야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63200" y="9880600"/>
            <a:ext cx="2679700" cy="736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8650"/>
              </a:lnSpc>
            </a:pPr>
            <a:r>
              <a:rPr lang="en" sz="4400" b="false" i="false" u="none" strike="noStrike">
                <a:solidFill>
                  <a:srgbClr val="595959"/>
                </a:solidFill>
                <a:ea typeface="Pretendard Medium"/>
              </a:rPr>
              <a:t>정리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14600" y="5537200"/>
            <a:ext cx="1054100" cy="106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000" b="false" i="false" u="none" strike="noStrike" spc="-360">
                <a:solidFill>
                  <a:srgbClr val="FFFFFF"/>
                </a:solidFill>
                <a:latin typeface="Pretendard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1100" y="7620000"/>
            <a:ext cx="1206500" cy="106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000" b="false" i="false" u="none" strike="noStrike" spc="-360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38400" y="9690100"/>
            <a:ext cx="1358900" cy="106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000" b="false" i="false" u="none" strike="noStrike" spc="-360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26500" y="5537200"/>
            <a:ext cx="1295400" cy="106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000" b="false" i="false" u="none" strike="noStrike" spc="-360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39200" y="7620000"/>
            <a:ext cx="1270000" cy="106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000" b="false" i="false" u="none" strike="noStrike" spc="-360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6500" y="9690100"/>
            <a:ext cx="1282700" cy="106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000" b="false" i="false" u="none" strike="noStrike" spc="-360">
                <a:solidFill>
                  <a:srgbClr val="FFFFFF"/>
                </a:solidFill>
                <a:latin typeface="Pretendard 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5200" y="2349500"/>
            <a:ext cx="2717800" cy="1663700"/>
          </a:xfrm>
          <a:prstGeom prst="rect">
            <a:avLst/>
          </a:prstGeom>
        </p:spPr>
        <p:txBody>
          <a:bodyPr anchor="t" rtlCol="false" lIns="0" tIns="77046" rIns="0" bIns="0"/>
          <a:lstStyle/>
          <a:p>
            <a:pPr algn="l" lvl="0">
              <a:lnSpc>
                <a:spcPct val="105410"/>
              </a:lnSpc>
            </a:pPr>
            <a:r>
              <a:rPr lang="en" sz="9333" b="false" i="false" u="none" strike="noStrike" spc="-93">
                <a:solidFill>
                  <a:srgbClr val="787878"/>
                </a:solidFill>
                <a:ea typeface="Pretendard Black"/>
              </a:rPr>
              <a:t>목차</a:t>
            </a:r>
            <a:br>
              <a:rPr lang="en" sz="9333" b="false" i="false" u="none" strike="noStrike" spc="-93">
                <a:solidFill>
                  <a:srgbClr val="787878"/>
                </a:solidFill>
                <a:ea typeface="Pretendard Black"/>
              </a:rPr>
            </a:br>
          </a:p>
        </p:txBody>
      </p:sp>
      <p:sp>
        <p:nvSpPr>
          <p:cNvPr name="TextBox 24" id="24"/>
          <p:cNvSpPr txBox="true"/>
          <p:nvPr/>
        </p:nvSpPr>
        <p:spPr>
          <a:xfrm rot="0">
            <a:off x="4533900" y="2959100"/>
            <a:ext cx="3111500" cy="92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200" b="false" i="false" u="none" strike="noStrike" spc="-208">
                <a:solidFill>
                  <a:srgbClr val="787878">
                    <a:alpha val="70196"/>
                  </a:srgbClr>
                </a:solidFill>
                <a:latin typeface="Pretendard Semi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220700" y="9588500"/>
            <a:ext cx="6959600" cy="825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28650"/>
              </a:lnSpc>
            </a:pPr>
            <a:r>
              <a:rPr lang="ko-KR" sz="4666" b="false" i="false" u="none" strike="noStrike" spc="-233">
                <a:solidFill>
                  <a:srgbClr val="595959"/>
                </a:solidFill>
                <a:ea typeface="Pretendard Bold"/>
              </a:rPr>
              <a:t>다담</a:t>
            </a:r>
            <a:r>
              <a:rPr lang="en-US" sz="4666" b="false" i="false" u="none" strike="noStrike" spc="-233">
                <a:solidFill>
                  <a:srgbClr val="595959"/>
                </a:solidFill>
                <a:latin typeface="Pretendard Bold"/>
              </a:rPr>
              <a:t> / Dadam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9000" y="1397000"/>
            <a:ext cx="6731000" cy="13335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프로젝트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소개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52900" y="9461500"/>
            <a:ext cx="6985000" cy="952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28650"/>
              </a:lnSpc>
            </a:pPr>
            <a:r>
              <a:rPr lang="ko-KR" sz="5333" b="false" i="false" u="none" strike="noStrike" spc="-267">
                <a:solidFill>
                  <a:srgbClr val="595959"/>
                </a:solidFill>
                <a:ea typeface="Pretendard Bold"/>
              </a:rPr>
              <a:t>아우름</a:t>
            </a:r>
            <a:r>
              <a:rPr lang="en-US" sz="5333" b="false" i="false" u="none" strike="noStrike" spc="-267">
                <a:solidFill>
                  <a:srgbClr val="595959"/>
                </a:solidFill>
                <a:latin typeface="Pretendard Bold"/>
              </a:rPr>
              <a:t>/OURM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130800" y="3898900"/>
            <a:ext cx="5029200" cy="5029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084300" y="3898900"/>
            <a:ext cx="5245100" cy="524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12839700" y="8204200"/>
            <a:ext cx="9423400" cy="381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2171700" y="8204200"/>
            <a:ext cx="9423400" cy="3810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097000" y="8750300"/>
            <a:ext cx="69215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28650"/>
              </a:lnSpc>
            </a:pPr>
            <a:r>
              <a:rPr lang="ko-KR" sz="3600" b="false" i="false" u="none" strike="noStrike" spc="-180">
                <a:solidFill>
                  <a:srgbClr val="595959"/>
                </a:solidFill>
                <a:ea typeface="Pretendard Bold"/>
              </a:rPr>
              <a:t>프로젝트</a:t>
            </a:r>
            <a:r>
              <a:rPr lang="en-US" sz="3600" b="false" i="false" u="none" strike="noStrike" spc="-180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false" i="false" u="none" strike="noStrike" spc="-180">
                <a:solidFill>
                  <a:srgbClr val="595959"/>
                </a:solidFill>
                <a:ea typeface="Pretendard Bold"/>
              </a:rPr>
              <a:t>필요성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0" y="9626600"/>
            <a:ext cx="7683500" cy="1828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8689"/>
              </a:lnSpc>
            </a:pP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단절된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대화에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물꼬를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트고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유대감을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강화하는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새로운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방식의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도구의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필요성을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느낌</a:t>
            </a:r>
          </a:p>
          <a:p>
            <a:pPr algn="ctr" lvl="0">
              <a:lnSpc>
                <a:spcPct val="118689"/>
              </a:lnSpc>
            </a:pPr>
            <a:r>
              <a:rPr lang="en" sz="2533" b="false" i="false" u="none" strike="noStrike">
                <a:solidFill>
                  <a:srgbClr val="595959"/>
                </a:solidFill>
                <a:latin typeface="Pretendard Regular"/>
              </a:rPr>
              <a:t/>
            </a:r>
          </a:p>
          <a:p>
            <a:pPr algn="ctr" lvl="0">
              <a:lnSpc>
                <a:spcPct val="118689"/>
              </a:lnSpc>
            </a:pP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커플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질문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앱에서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확인된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긍정적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경험의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단위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확장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계획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7400" y="8509000"/>
            <a:ext cx="7124700" cy="5969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3600" b="false" i="false" u="none" strike="noStrike" spc="-180">
                <a:solidFill>
                  <a:srgbClr val="595959"/>
                </a:solidFill>
                <a:ea typeface="Pretendard Bold"/>
              </a:rPr>
              <a:t>문제</a:t>
            </a:r>
            <a:r>
              <a:rPr lang="en-US" sz="3600" b="false" i="false" u="none" strike="noStrike" spc="-180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false" i="false" u="none" strike="noStrike" spc="-180">
                <a:solidFill>
                  <a:srgbClr val="595959"/>
                </a:solidFill>
                <a:ea typeface="Pretendard Bold"/>
              </a:rPr>
              <a:t>인식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9000" y="1397000"/>
            <a:ext cx="8293100" cy="13335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개발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배경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및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목적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76600" y="9271000"/>
            <a:ext cx="7683500" cy="228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8689"/>
              </a:lnSpc>
            </a:pP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개인주의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심화로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세대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대화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부족과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단절이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증가</a:t>
            </a:r>
            <a:b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구성원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간에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일상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대화는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있어도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, </a:t>
            </a:r>
          </a:p>
          <a:p>
            <a:pPr algn="ctr" lvl="0">
              <a:lnSpc>
                <a:spcPct val="118689"/>
              </a:lnSpc>
            </a:pP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생각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가치관을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공유하는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깊이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있는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대화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부족</a:t>
            </a:r>
            <a:b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en" sz="2533" b="false" i="false" u="none" strike="noStrike">
                <a:solidFill>
                  <a:srgbClr val="595959"/>
                </a:solidFill>
                <a:latin typeface="Pretendard Regular"/>
              </a:rPr>
              <a:t/>
            </a:r>
          </a:p>
          <a:p>
            <a:pPr algn="ctr" lvl="0">
              <a:lnSpc>
                <a:spcPct val="118689"/>
              </a:lnSpc>
            </a:pP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-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정서적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유대감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약화의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주요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원인으로</a:t>
            </a:r>
            <a:r>
              <a:rPr lang="en-US" sz="25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false" i="false" u="none" strike="noStrike">
                <a:solidFill>
                  <a:srgbClr val="595959"/>
                </a:solidFill>
                <a:ea typeface="Pretendard Regular"/>
              </a:rPr>
              <a:t>작용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52800" y="3581400"/>
            <a:ext cx="7073900" cy="4419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39700" y="4051300"/>
            <a:ext cx="95123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1000"/>
          </a:blip>
          <a:stretch>
            <a:fillRect/>
          </a:stretch>
        </p:blipFill>
        <p:spPr>
          <a:xfrm rot="0">
            <a:off x="18834100" y="4533900"/>
            <a:ext cx="4152900" cy="7810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1000"/>
          </a:blip>
          <a:stretch>
            <a:fillRect/>
          </a:stretch>
        </p:blipFill>
        <p:spPr>
          <a:xfrm rot="0">
            <a:off x="5016500" y="4533900"/>
            <a:ext cx="4152900" cy="781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778500" y="1727200"/>
            <a:ext cx="42926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733" b="false" i="false" u="none" strike="noStrike" spc="-149">
                <a:solidFill>
                  <a:srgbClr val="787878">
                    <a:alpha val="70196"/>
                  </a:srgbClr>
                </a:solidFill>
                <a:latin typeface="Pretendard SemiBold"/>
              </a:rPr>
              <a:t>Database + DevOps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9000" y="1397000"/>
            <a:ext cx="3568700" cy="13335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en" sz="7466" b="false" i="false" u="none" strike="noStrike">
                <a:solidFill>
                  <a:srgbClr val="787878"/>
                </a:solidFill>
                <a:ea typeface="Pretendard Black"/>
              </a:rPr>
              <a:t>개발환경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40400" y="3619500"/>
            <a:ext cx="2705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857" b="false" i="false" u="none" strike="noStrike">
                <a:solidFill>
                  <a:srgbClr val="000000"/>
                </a:solidFill>
                <a:latin typeface="Pretendard Regular"/>
              </a:rPr>
              <a:t>DataBase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499100" y="6515100"/>
            <a:ext cx="3200400" cy="320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8623300"/>
            <a:ext cx="3594100" cy="1701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alphaModFix amt="71000"/>
          </a:blip>
          <a:stretch>
            <a:fillRect/>
          </a:stretch>
        </p:blipFill>
        <p:spPr>
          <a:xfrm rot="0">
            <a:off x="9626600" y="4495800"/>
            <a:ext cx="4152900" cy="7810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350500" y="3581400"/>
            <a:ext cx="2705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857" b="false" i="false" u="none" strike="noStrike">
                <a:solidFill>
                  <a:srgbClr val="000000"/>
                </a:solidFill>
                <a:latin typeface="Pretendard Regular"/>
              </a:rPr>
              <a:t>Backend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alphaModFix amt="71000"/>
          </a:blip>
          <a:stretch>
            <a:fillRect/>
          </a:stretch>
        </p:blipFill>
        <p:spPr>
          <a:xfrm rot="0">
            <a:off x="14224000" y="4533900"/>
            <a:ext cx="4152900" cy="7810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4947900" y="3619500"/>
            <a:ext cx="2705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857" b="false" i="false" u="none" strike="noStrike">
                <a:solidFill>
                  <a:srgbClr val="000000"/>
                </a:solidFill>
                <a:latin typeface="Pretendard Regular"/>
              </a:rPr>
              <a:t>Frontend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81800" y="3619500"/>
            <a:ext cx="28702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857" b="false" i="false" u="none" strike="noStrike">
                <a:solidFill>
                  <a:srgbClr val="000000"/>
                </a:solidFill>
                <a:latin typeface="Pretendard Regular"/>
              </a:rPr>
              <a:t>Deployment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113500" y="6667500"/>
            <a:ext cx="3594100" cy="1612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82900" y="5092700"/>
            <a:ext cx="1460500" cy="2082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82900" y="7340600"/>
            <a:ext cx="1447800" cy="2133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392400" y="9893300"/>
            <a:ext cx="1816100" cy="1854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045700" y="5321300"/>
            <a:ext cx="3327400" cy="2006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29800" y="7581900"/>
            <a:ext cx="3746500" cy="171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65200" y="8305800"/>
            <a:ext cx="3327400" cy="2832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880600" y="9842500"/>
            <a:ext cx="3644900" cy="1028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58900" y="5181600"/>
            <a:ext cx="25527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2171700" y="6451600"/>
            <a:ext cx="20624800" cy="337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2171700" y="2870200"/>
            <a:ext cx="20624800" cy="337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" y="3048000"/>
            <a:ext cx="3492500" cy="299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87600" y="6642100"/>
            <a:ext cx="3492500" cy="299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 rot="0">
            <a:off x="19786600" y="4622800"/>
            <a:ext cx="2184400" cy="161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 rot="0">
            <a:off x="19837400" y="7874000"/>
            <a:ext cx="2082800" cy="1943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477000" y="3454400"/>
            <a:ext cx="12877800" cy="2197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JWT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기반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인증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: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회원가입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비밀번호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암호화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) →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로그인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토큰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발급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프로필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정보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이름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역할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코드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)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관리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이미지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업로드는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서버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로컬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디렉토리에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저장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초대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코드를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그룹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자동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형성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14600" y="3759200"/>
            <a:ext cx="3238500" cy="16002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사용자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인증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28650"/>
              </a:lnSpc>
            </a:pP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&amp;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프로필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관리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3000" y="7797800"/>
            <a:ext cx="3454400" cy="7874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일상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질문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기능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9000" y="1397000"/>
            <a:ext cx="11633200" cy="13970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프로젝트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주요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기능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0700" y="7086600"/>
            <a:ext cx="12877800" cy="2197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날짜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단위로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질문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1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회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자동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생성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중복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방지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유니크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제약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적용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)
AI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미생성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자동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생성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로직으로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일관성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유지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답변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작성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+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댓글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기능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제공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질문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단위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스레드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구조로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자연스러운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대화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흐름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형성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2171700" y="10045700"/>
            <a:ext cx="20624800" cy="3378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87600" y="10223500"/>
            <a:ext cx="3492500" cy="29972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477000" y="10629900"/>
            <a:ext cx="12877800" cy="2197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OpenAI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응답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(JSON)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유효성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검사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보정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로직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포함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보기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정답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누락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자동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보정하여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3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지선다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구성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중복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투표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방지를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위한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unique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제약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+ ALREADY_PARTICIPATED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예외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처리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세대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언어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차이를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줄이는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촉진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목적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14600" y="10934700"/>
            <a:ext cx="3238500" cy="16002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신조어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퀴즈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기능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 rot="0">
            <a:off x="19837400" y="11811000"/>
            <a:ext cx="21844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2159000" y="8267700"/>
            <a:ext cx="20624800" cy="337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 rot="0">
            <a:off x="2159000" y="4178300"/>
            <a:ext cx="20624800" cy="337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" y="4368800"/>
            <a:ext cx="3492500" cy="299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87600" y="8458200"/>
            <a:ext cx="3492500" cy="299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 rot="0">
            <a:off x="19786600" y="5943600"/>
            <a:ext cx="2184400" cy="161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 rot="0">
            <a:off x="19824700" y="9702800"/>
            <a:ext cx="2082800" cy="1943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70700" y="5092700"/>
            <a:ext cx="12877800" cy="1651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취향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관심사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공유를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위한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양자택일형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콘텐츠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사용자의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선택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결과를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집계하여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구성원별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경향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시각화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의견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차이를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자연스럽게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확인하는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요소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제공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1900" y="5080000"/>
            <a:ext cx="3238500" cy="16002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밸런스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게임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 
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기능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3000" y="9207500"/>
            <a:ext cx="3454400" cy="16002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캘린더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기반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 </a:t>
            </a:r>
          </a:p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일정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관리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9000" y="1397000"/>
            <a:ext cx="11633200" cy="13970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프로젝트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주요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기능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0700" y="9182100"/>
            <a:ext cx="12877800" cy="1651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외식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행사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여행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일정을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등록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공유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날짜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기반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정리로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그룹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전체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일정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한눈에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파악</a:t>
            </a:r>
            <a:b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대화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기능과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자연스럽게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연결되는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단위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계획</a:t>
            </a:r>
            <a:r>
              <a:rPr lang="en-US" sz="309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97" b="false" i="false" u="none" strike="noStrike">
                <a:solidFill>
                  <a:srgbClr val="595959"/>
                </a:solidFill>
                <a:ea typeface="Pretendard Regular"/>
              </a:rPr>
              <a:t>기능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179300" y="5854700"/>
            <a:ext cx="825500" cy="101600"/>
          </a:xfrm>
          <a:prstGeom prst="rect">
            <a:avLst/>
          </a:prstGeom>
          <a:effectLst>
            <a:outerShdw dir="18900000" dist="9378" blurRad="4064">
              <a:srgbClr val="000000">
                <a:alpha val="5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1000"/>
          </a:blip>
          <a:stretch>
            <a:fillRect/>
          </a:stretch>
        </p:blipFill>
        <p:spPr>
          <a:xfrm rot="0">
            <a:off x="2171700" y="6324600"/>
            <a:ext cx="20421600" cy="520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734300" y="4076700"/>
            <a:ext cx="9677400" cy="1574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581400" y="7937500"/>
            <a:ext cx="18008600" cy="2565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구성원의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자연스러운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대화를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유도하는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중심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서비스</a:t>
            </a:r>
            <a:b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매일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생성되는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질문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신조어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퀴즈를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세대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공감대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형성</a:t>
            </a:r>
            <a:b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</a:b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플랫폼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교육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콘텐츠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세대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도구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다양한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활용</a:t>
            </a:r>
            <a:r>
              <a:rPr lang="en-US" sz="4800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4800" b="false" i="false" u="none" strike="noStrike">
                <a:solidFill>
                  <a:srgbClr val="595959"/>
                </a:solidFill>
                <a:ea typeface="Pretendard Regular"/>
              </a:rPr>
              <a:t>가능성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0" y="6832600"/>
            <a:ext cx="5689600" cy="5969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3600" b="false" i="false" u="none" strike="noStrike">
                <a:solidFill>
                  <a:srgbClr val="595959"/>
                </a:solidFill>
                <a:ea typeface="Pretendard Bold"/>
              </a:rPr>
              <a:t>프로젝트</a:t>
            </a:r>
            <a:r>
              <a:rPr lang="en-US" sz="3600" b="false" i="false" u="none" strike="noStrike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false" i="false" u="none" strike="noStrike">
                <a:solidFill>
                  <a:srgbClr val="595959"/>
                </a:solidFill>
                <a:ea typeface="Pretendard Bold"/>
              </a:rPr>
              <a:t>의의</a:t>
            </a:r>
            <a:r>
              <a:rPr lang="en-US" sz="3600" b="false" i="false" u="none" strike="noStrike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false" i="false" u="none" strike="noStrike">
                <a:solidFill>
                  <a:srgbClr val="595959"/>
                </a:solidFill>
                <a:ea typeface="Pretendard Bold"/>
              </a:rPr>
              <a:t>및</a:t>
            </a:r>
            <a:r>
              <a:rPr lang="en-US" sz="3600" b="false" i="false" u="none" strike="noStrike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false" i="false" u="none" strike="noStrike">
                <a:solidFill>
                  <a:srgbClr val="595959"/>
                </a:solidFill>
                <a:ea typeface="Pretendard Bold"/>
              </a:rPr>
              <a:t>사회적</a:t>
            </a:r>
            <a:r>
              <a:rPr lang="en-US" sz="3600" b="false" i="false" u="none" strike="noStrike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false" i="false" u="none" strike="noStrike">
                <a:solidFill>
                  <a:srgbClr val="595959"/>
                </a:solidFill>
                <a:ea typeface="Pretendard Bold"/>
              </a:rPr>
              <a:t>가치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4800" y="4508500"/>
            <a:ext cx="9296400" cy="7366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8650"/>
              </a:lnSpc>
            </a:pP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기대효과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및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활용</a:t>
            </a:r>
            <a:r>
              <a:rPr lang="en-US" sz="44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FFFFFF"/>
                </a:solidFill>
                <a:ea typeface="Pretendard Bold"/>
              </a:rPr>
              <a:t>분야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9000" y="1397000"/>
            <a:ext cx="9525000" cy="13335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기대효과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및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활용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분야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159000" y="1397000"/>
            <a:ext cx="7239000" cy="1333500"/>
          </a:xfrm>
          <a:prstGeom prst="rect">
            <a:avLst/>
          </a:prstGeom>
        </p:spPr>
        <p:txBody>
          <a:bodyPr anchor="t" rtlCol="false" lIns="0" tIns="61638" rIns="0" bIns="0"/>
          <a:lstStyle/>
          <a:p>
            <a:pPr algn="l" lvl="0">
              <a:lnSpc>
                <a:spcPct val="105410"/>
              </a:lnSpc>
            </a:pP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향후</a:t>
            </a:r>
            <a:r>
              <a:rPr lang="en-US" sz="7466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false" i="false" u="none" strike="noStrike">
                <a:solidFill>
                  <a:srgbClr val="787878"/>
                </a:solidFill>
                <a:ea typeface="Pretendard Black"/>
              </a:rPr>
              <a:t>계획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60900" y="5943600"/>
            <a:ext cx="16154400" cy="2844800"/>
          </a:xfrm>
          <a:prstGeom prst="rect">
            <a:avLst/>
          </a:prstGeom>
        </p:spPr>
        <p:txBody>
          <a:bodyPr anchor="t" rtlCol="false" lIns="0" tIns="132080" rIns="0" bIns="0"/>
          <a:lstStyle/>
          <a:p>
            <a:pPr algn="l" lvl="0">
              <a:lnSpc>
                <a:spcPct val="105410"/>
              </a:lnSpc>
            </a:pPr>
            <a:r>
              <a:rPr lang="ko-KR" sz="16000" b="false" i="false" u="none" strike="noStrike">
                <a:solidFill>
                  <a:srgbClr val="787878"/>
                </a:solidFill>
                <a:ea typeface="Pretendard Black"/>
              </a:rPr>
              <a:t>향후</a:t>
            </a:r>
            <a:r>
              <a:rPr lang="en-US" sz="16000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16000" b="false" i="false" u="none" strike="noStrike">
                <a:solidFill>
                  <a:srgbClr val="787878"/>
                </a:solidFill>
                <a:ea typeface="Pretendard Black"/>
              </a:rPr>
              <a:t>기능</a:t>
            </a:r>
            <a:r>
              <a:rPr lang="en-US" sz="16000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16000" b="false" i="false" u="none" strike="noStrike">
                <a:solidFill>
                  <a:srgbClr val="787878"/>
                </a:solidFill>
                <a:ea typeface="Pretendard Black"/>
              </a:rPr>
              <a:t>확장</a:t>
            </a:r>
            <a:r>
              <a:rPr lang="en-US" sz="16000" b="false" i="false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16000" b="false" i="false" u="none" strike="noStrike">
                <a:solidFill>
                  <a:srgbClr val="787878"/>
                </a:solidFill>
                <a:ea typeface="Pretendard Black"/>
              </a:rPr>
              <a:t>방향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739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3487400"/>
            <a:ext cx="248539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2679700"/>
            <a:ext cx="22288500" cy="76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915400" y="5600700"/>
            <a:ext cx="16154400" cy="3009900"/>
          </a:xfrm>
          <a:prstGeom prst="rect">
            <a:avLst/>
          </a:prstGeom>
        </p:spPr>
        <p:txBody>
          <a:bodyPr anchor="t" rtlCol="false" lIns="0" tIns="132080" rIns="0" bIns="0"/>
          <a:lstStyle/>
          <a:p>
            <a:pPr algn="l" lvl="0">
              <a:lnSpc>
                <a:spcPct val="105410"/>
              </a:lnSpc>
            </a:pPr>
            <a:r>
              <a:rPr lang="en" sz="16000" b="false" i="false" u="none" strike="noStrike">
                <a:solidFill>
                  <a:srgbClr val="787878"/>
                </a:solidFill>
                <a:latin typeface="Pretendard Black"/>
              </a:rPr>
              <a:t>QnA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