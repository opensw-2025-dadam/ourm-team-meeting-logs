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9" r:id="rId13"/>
    <p:sldId id="267" r:id="rId14"/>
    <p:sldId id="266" r:id="rId15"/>
  </p:sldIdLst>
  <p:sldSz cx="24384000" cy="13716000"/>
  <p:notesSz cx="6858000" cy="9144000"/>
  <p:embeddedFontLst>
    <p:embeddedFont>
      <p:font typeface="Pretendard Black" panose="020B0600000101010101" charset="-127"/>
      <p:bold r:id="rId16"/>
    </p:embeddedFont>
    <p:embeddedFont>
      <p:font typeface="Pretendard Bold" panose="020B0600000101010101" charset="-127"/>
      <p:bold r:id="rId17"/>
    </p:embeddedFont>
    <p:embeddedFont>
      <p:font typeface="Pretendard ExtraBold" panose="020B0600000101010101" charset="-127"/>
      <p:bold r:id="rId18"/>
    </p:embeddedFont>
    <p:embeddedFont>
      <p:font typeface="Pretendard Medium" panose="020B0600000101010101" charset="-127"/>
      <p:bold r:id="rId19"/>
    </p:embeddedFont>
    <p:embeddedFont>
      <p:font typeface="Pretendard Regular" panose="020B0600000101010101" charset="-127"/>
      <p:regular r:id="rId20"/>
    </p:embeddedFont>
    <p:embeddedFont>
      <p:font typeface="Pretendard SemiBold" panose="020B0600000101010101" charset="-127"/>
      <p:bold r:id="rId21"/>
    </p:embeddedFont>
    <p:embeddedFont>
      <p:font typeface="나눔고딕" panose="020D0604000000000000" pitchFamily="50" charset="-127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1" d="100"/>
          <a:sy n="41" d="100"/>
        </p:scale>
        <p:origin x="468" y="21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3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7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739600" cy="228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87400"/>
            <a:ext cx="24853900" cy="22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3702051" y="406400"/>
            <a:ext cx="9144000" cy="1289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900" y="6044615"/>
            <a:ext cx="9004300" cy="76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136900" y="8763000"/>
            <a:ext cx="4826000" cy="1676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8650"/>
              </a:lnSpc>
            </a:pPr>
            <a:r>
              <a:rPr lang="ko-KR" sz="2933" b="0" i="0" u="none" strike="noStrike" dirty="0">
                <a:solidFill>
                  <a:srgbClr val="FFFFFF"/>
                </a:solidFill>
                <a:latin typeface="+mj-lt"/>
              </a:rPr>
              <a:t>윤수진</a:t>
            </a:r>
            <a:r>
              <a:rPr lang="en-US" sz="2933" b="0" i="0" u="none" strike="noStrike" dirty="0">
                <a:solidFill>
                  <a:srgbClr val="FFFFFF"/>
                </a:solidFill>
                <a:latin typeface="+mj-lt"/>
              </a:rPr>
              <a:t> 2024042093</a:t>
            </a:r>
          </a:p>
          <a:p>
            <a:pPr lvl="0" algn="l">
              <a:lnSpc>
                <a:spcPct val="128650"/>
              </a:lnSpc>
            </a:pPr>
            <a:r>
              <a:rPr lang="ko-KR" sz="2933" b="0" i="0" u="none" strike="noStrike" dirty="0" err="1">
                <a:solidFill>
                  <a:srgbClr val="FFFFFF"/>
                </a:solidFill>
                <a:latin typeface="+mj-lt"/>
              </a:rPr>
              <a:t>윤나희</a:t>
            </a:r>
            <a:r>
              <a:rPr lang="en-US" sz="2933" b="0" i="0" u="none" strike="noStrike" dirty="0">
                <a:solidFill>
                  <a:srgbClr val="FFFFFF"/>
                </a:solidFill>
                <a:latin typeface="+mj-lt"/>
              </a:rPr>
              <a:t> 2023078047</a:t>
            </a:r>
          </a:p>
          <a:p>
            <a:pPr lvl="0" algn="l">
              <a:lnSpc>
                <a:spcPct val="128650"/>
              </a:lnSpc>
            </a:pPr>
            <a:r>
              <a:rPr lang="ko-KR" sz="2933" b="0" i="0" u="none" strike="noStrike" dirty="0">
                <a:solidFill>
                  <a:srgbClr val="FFFFFF"/>
                </a:solidFill>
                <a:latin typeface="+mj-lt"/>
              </a:rPr>
              <a:t>박민규</a:t>
            </a:r>
            <a:r>
              <a:rPr lang="en-US" sz="2933" b="0" i="0" u="none" strike="noStrike" dirty="0">
                <a:solidFill>
                  <a:srgbClr val="FFFFFF"/>
                </a:solidFill>
                <a:latin typeface="+mj-lt"/>
              </a:rPr>
              <a:t>2024042076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36900" y="3225800"/>
            <a:ext cx="9271000" cy="2489200"/>
          </a:xfrm>
          <a:prstGeom prst="rect">
            <a:avLst/>
          </a:prstGeom>
        </p:spPr>
        <p:txBody>
          <a:bodyPr lIns="0" tIns="57234" rIns="0" bIns="0" rtlCol="0" anchor="t"/>
          <a:lstStyle/>
          <a:p>
            <a:pPr lvl="0" algn="l">
              <a:lnSpc>
                <a:spcPct val="150000"/>
              </a:lnSpc>
            </a:pPr>
            <a:r>
              <a:rPr lang="ko-KR" sz="6933" b="0" i="0" u="none" strike="noStrike" spc="208" dirty="0">
                <a:solidFill>
                  <a:schemeClr val="bg1"/>
                </a:solidFill>
                <a:latin typeface="+mj-lt"/>
                <a:ea typeface="Pretendard SemiBold"/>
              </a:rPr>
              <a:t>다담</a:t>
            </a:r>
            <a:r>
              <a:rPr lang="en-US" sz="6933" b="0" i="0" u="none" strike="noStrike" spc="208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altLang="en-US" sz="7200" dirty="0">
                <a:solidFill>
                  <a:schemeClr val="bg1"/>
                </a:solidFill>
                <a:latin typeface="+mj-lt"/>
              </a:rPr>
              <a:t>茶談</a:t>
            </a:r>
            <a:r>
              <a:rPr lang="en-US" sz="6933" b="0" i="0" u="none" strike="noStrike" spc="208" dirty="0">
                <a:solidFill>
                  <a:schemeClr val="bg1"/>
                </a:solidFill>
                <a:latin typeface="+mj-lt"/>
              </a:rPr>
              <a:t>
</a:t>
            </a:r>
            <a:r>
              <a:rPr lang="ko-KR" sz="4000" b="0" i="0" u="none" strike="noStrike" spc="208" dirty="0">
                <a:solidFill>
                  <a:schemeClr val="bg1"/>
                </a:solidFill>
                <a:latin typeface="+mj-lt"/>
                <a:ea typeface="Pretendard SemiBold"/>
              </a:rPr>
              <a:t>세대</a:t>
            </a:r>
            <a:r>
              <a:rPr lang="en-US" sz="4000" b="0" i="0" u="none" strike="noStrike" spc="208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sz="4000" b="0" i="0" u="none" strike="noStrike" spc="208" dirty="0">
                <a:solidFill>
                  <a:schemeClr val="bg1"/>
                </a:solidFill>
                <a:latin typeface="+mj-lt"/>
                <a:ea typeface="Pretendard SemiBold"/>
              </a:rPr>
              <a:t>간</a:t>
            </a:r>
            <a:r>
              <a:rPr lang="en-US" sz="4000" b="0" i="0" u="none" strike="noStrike" spc="208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sz="4000" b="0" i="0" u="none" strike="noStrike" spc="208" dirty="0">
                <a:solidFill>
                  <a:schemeClr val="bg1"/>
                </a:solidFill>
                <a:latin typeface="+mj-lt"/>
                <a:ea typeface="Pretendard SemiBold"/>
              </a:rPr>
              <a:t>소통을</a:t>
            </a:r>
            <a:r>
              <a:rPr lang="en-US" sz="4000" b="0" i="0" u="none" strike="noStrike" spc="208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sz="4000" b="0" i="0" u="none" strike="noStrike" spc="208" dirty="0">
                <a:solidFill>
                  <a:schemeClr val="bg1"/>
                </a:solidFill>
                <a:latin typeface="+mj-lt"/>
                <a:ea typeface="Pretendard SemiBold"/>
              </a:rPr>
              <a:t>위한</a:t>
            </a:r>
            <a:r>
              <a:rPr lang="en-US" sz="4000" b="0" i="0" u="none" strike="noStrike" spc="208" dirty="0">
                <a:solidFill>
                  <a:schemeClr val="bg1"/>
                </a:solidFill>
                <a:latin typeface="+mj-lt"/>
              </a:rPr>
              <a:t> </a:t>
            </a:r>
            <a:r>
              <a:rPr lang="ko-KR" sz="4000" b="0" i="0" u="none" strike="noStrike" spc="208" dirty="0">
                <a:solidFill>
                  <a:schemeClr val="bg1"/>
                </a:solidFill>
                <a:latin typeface="+mj-lt"/>
                <a:ea typeface="Pretendard SemiBold"/>
              </a:rPr>
              <a:t>가족</a:t>
            </a:r>
            <a:r>
              <a:rPr lang="en-US" sz="4000" b="0" i="0" u="none" strike="noStrike" spc="208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sz="4000" b="0" i="0" u="none" strike="noStrike" spc="208" dirty="0">
                <a:solidFill>
                  <a:schemeClr val="bg1"/>
                </a:solidFill>
                <a:latin typeface="+mj-lt"/>
                <a:ea typeface="Pretendard SemiBold"/>
              </a:rPr>
              <a:t>대화</a:t>
            </a:r>
            <a:r>
              <a:rPr lang="en-US" sz="4000" b="0" i="0" u="none" strike="noStrike" spc="208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sz="4000" b="0" i="0" u="none" strike="noStrike" spc="208" dirty="0">
                <a:solidFill>
                  <a:schemeClr val="bg1"/>
                </a:solidFill>
                <a:latin typeface="+mj-lt"/>
                <a:ea typeface="Pretendard SemiBold"/>
              </a:rPr>
              <a:t>약속</a:t>
            </a:r>
            <a:r>
              <a:rPr lang="en-US" sz="4000" b="0" i="0" u="none" strike="noStrike" spc="208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sz="4000" b="0" i="0" u="none" strike="noStrike" spc="208" dirty="0">
                <a:solidFill>
                  <a:schemeClr val="bg1"/>
                </a:solidFill>
                <a:latin typeface="+mj-lt"/>
                <a:ea typeface="Pretendard SemiBold"/>
              </a:rPr>
              <a:t>플랫폼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90500" y="9880600"/>
            <a:ext cx="4864100" cy="7112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8650"/>
              </a:lnSpc>
            </a:pPr>
            <a:r>
              <a:rPr lang="en-US" sz="3999" b="0" i="0" u="none" strike="noStrike" dirty="0">
                <a:solidFill>
                  <a:srgbClr val="FFFFFF"/>
                </a:solidFill>
                <a:latin typeface="Pretendard Medium"/>
              </a:rPr>
              <a:t>4</a:t>
            </a:r>
            <a:r>
              <a:rPr lang="ko-KR" sz="3999" b="0" i="0" u="none" strike="noStrike" dirty="0">
                <a:solidFill>
                  <a:srgbClr val="FFFFFF"/>
                </a:solidFill>
                <a:ea typeface="Pretendard Medium"/>
              </a:rPr>
              <a:t>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739600" cy="228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87400"/>
            <a:ext cx="24853900" cy="22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200" y="3962400"/>
            <a:ext cx="22148800" cy="76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200" y="5486400"/>
            <a:ext cx="1320800" cy="124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200" y="7556500"/>
            <a:ext cx="1320800" cy="1244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200" y="9626600"/>
            <a:ext cx="1320800" cy="1244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8700" y="7556500"/>
            <a:ext cx="1320800" cy="1244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8700" y="9626600"/>
            <a:ext cx="1320800" cy="1244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8700" y="5486400"/>
            <a:ext cx="1320800" cy="1244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810000" y="7810500"/>
            <a:ext cx="5803900" cy="7366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8650"/>
              </a:lnSpc>
            </a:pPr>
            <a:r>
              <a:rPr lang="ko-KR" sz="4400" b="0" i="0" u="none" strike="noStrike">
                <a:solidFill>
                  <a:srgbClr val="595959"/>
                </a:solidFill>
                <a:ea typeface="Pretendard Medium"/>
              </a:rPr>
              <a:t>개발</a:t>
            </a:r>
            <a:r>
              <a:rPr lang="en-US" sz="4400" b="0" i="0" u="none" strike="noStrike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0" i="0" u="none" strike="noStrike">
                <a:solidFill>
                  <a:srgbClr val="595959"/>
                </a:solidFill>
                <a:ea typeface="Pretendard Medium"/>
              </a:rPr>
              <a:t>배경</a:t>
            </a:r>
            <a:r>
              <a:rPr lang="en-US" sz="4400" b="0" i="0" u="none" strike="noStrike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0" i="0" u="none" strike="noStrike">
                <a:solidFill>
                  <a:srgbClr val="595959"/>
                </a:solidFill>
                <a:ea typeface="Pretendard Medium"/>
              </a:rPr>
              <a:t>및</a:t>
            </a:r>
            <a:r>
              <a:rPr lang="en-US" sz="4400" b="0" i="0" u="none" strike="noStrike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0" i="0" u="none" strike="noStrike">
                <a:solidFill>
                  <a:srgbClr val="595959"/>
                </a:solidFill>
                <a:ea typeface="Pretendard Medium"/>
              </a:rPr>
              <a:t>목적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10000" y="5715000"/>
            <a:ext cx="3632200" cy="787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8650"/>
              </a:lnSpc>
            </a:pPr>
            <a:r>
              <a:rPr lang="ko-KR" sz="4400" b="0" i="0" u="none" strike="noStrike" dirty="0">
                <a:solidFill>
                  <a:srgbClr val="595959"/>
                </a:solidFill>
                <a:ea typeface="Pretendard Medium"/>
              </a:rPr>
              <a:t>프로젝트</a:t>
            </a:r>
            <a:r>
              <a:rPr lang="en-US" sz="4400" b="0" i="0" u="none" strike="noStrike" dirty="0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0" i="0" u="none" strike="noStrike" dirty="0">
                <a:solidFill>
                  <a:srgbClr val="595959"/>
                </a:solidFill>
                <a:ea typeface="Pretendard Medium"/>
              </a:rPr>
              <a:t>소개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10800" y="5740400"/>
            <a:ext cx="7886700" cy="7366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8650"/>
              </a:lnSpc>
            </a:pPr>
            <a:r>
              <a:rPr lang="ko-KR" sz="4400" b="0" i="0" u="none" strike="noStrike" dirty="0">
                <a:solidFill>
                  <a:srgbClr val="595959"/>
                </a:solidFill>
                <a:ea typeface="Pretendard Medium"/>
              </a:rPr>
              <a:t>프로젝트</a:t>
            </a:r>
            <a:r>
              <a:rPr lang="en-US" sz="4400" b="0" i="0" u="none" strike="noStrike" dirty="0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0" i="0" u="none" strike="noStrike" dirty="0">
                <a:solidFill>
                  <a:srgbClr val="595959"/>
                </a:solidFill>
                <a:ea typeface="Pretendard Medium"/>
              </a:rPr>
              <a:t>주요</a:t>
            </a:r>
            <a:r>
              <a:rPr lang="en-US" sz="4400" b="0" i="0" u="none" strike="noStrike" dirty="0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0" i="0" u="none" strike="noStrike" dirty="0">
                <a:solidFill>
                  <a:srgbClr val="595959"/>
                </a:solidFill>
                <a:ea typeface="Pretendard Medium"/>
              </a:rPr>
              <a:t>기능</a:t>
            </a:r>
            <a:r>
              <a:rPr lang="en-US" sz="4400" b="0" i="0" u="none" strike="noStrike" dirty="0">
                <a:solidFill>
                  <a:srgbClr val="595959"/>
                </a:solidFill>
                <a:latin typeface="Pretendard Medium"/>
              </a:rPr>
              <a:t>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10000" y="9880600"/>
            <a:ext cx="2527300" cy="7366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8650"/>
              </a:lnSpc>
            </a:pPr>
            <a:r>
              <a:rPr lang="ko-KR" sz="4400" b="0" i="0" u="none" strike="noStrike">
                <a:solidFill>
                  <a:srgbClr val="595959"/>
                </a:solidFill>
                <a:ea typeface="Pretendard Medium"/>
              </a:rPr>
              <a:t>개발환경</a:t>
            </a:r>
            <a:r>
              <a:rPr lang="en-US" sz="4400" b="0" i="0" u="none" strike="noStrike">
                <a:solidFill>
                  <a:srgbClr val="595959"/>
                </a:solidFill>
                <a:latin typeface="Pretendard Medium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10800" y="7810500"/>
            <a:ext cx="7962900" cy="7366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8650"/>
              </a:lnSpc>
            </a:pPr>
            <a:r>
              <a:rPr lang="ko-KR" sz="4400" b="0" i="0" u="none" strike="noStrike">
                <a:solidFill>
                  <a:srgbClr val="595959"/>
                </a:solidFill>
                <a:ea typeface="Pretendard Medium"/>
              </a:rPr>
              <a:t>기대효과</a:t>
            </a:r>
            <a:r>
              <a:rPr lang="en-US" sz="4400" b="0" i="0" u="none" strike="noStrike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0" i="0" u="none" strike="noStrike">
                <a:solidFill>
                  <a:srgbClr val="595959"/>
                </a:solidFill>
                <a:ea typeface="Pretendard Medium"/>
              </a:rPr>
              <a:t>및</a:t>
            </a:r>
            <a:r>
              <a:rPr lang="en-US" sz="4400" b="0" i="0" u="none" strike="noStrike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0" i="0" u="none" strike="noStrike">
                <a:solidFill>
                  <a:srgbClr val="595959"/>
                </a:solidFill>
                <a:ea typeface="Pretendard Medium"/>
              </a:rPr>
              <a:t>활용</a:t>
            </a:r>
            <a:r>
              <a:rPr lang="en-US" sz="4400" b="0" i="0" u="none" strike="noStrike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0" i="0" u="none" strike="noStrike">
                <a:solidFill>
                  <a:srgbClr val="595959"/>
                </a:solidFill>
                <a:ea typeface="Pretendard Medium"/>
              </a:rPr>
              <a:t>분야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10800" y="9855200"/>
            <a:ext cx="5181600" cy="787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8650"/>
              </a:lnSpc>
            </a:pPr>
            <a:r>
              <a:rPr lang="ko-KR" sz="4400" b="0" i="0" u="none" strike="noStrike" dirty="0">
                <a:solidFill>
                  <a:srgbClr val="595959"/>
                </a:solidFill>
                <a:ea typeface="Pretendard Medium"/>
              </a:rPr>
              <a:t>향후</a:t>
            </a:r>
            <a:r>
              <a:rPr lang="en-US" sz="4400" b="0" i="0" u="none" strike="noStrike" dirty="0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0" i="0" u="none" strike="noStrike" dirty="0">
                <a:solidFill>
                  <a:srgbClr val="595959"/>
                </a:solidFill>
                <a:ea typeface="Pretendard Medium"/>
              </a:rPr>
              <a:t>기능</a:t>
            </a:r>
            <a:r>
              <a:rPr lang="en-US" sz="4400" b="0" i="0" u="none" strike="noStrike" dirty="0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0" i="0" u="none" strike="noStrike" dirty="0">
                <a:solidFill>
                  <a:srgbClr val="595959"/>
                </a:solidFill>
                <a:ea typeface="Pretendard Medium"/>
              </a:rPr>
              <a:t>확장</a:t>
            </a:r>
            <a:r>
              <a:rPr lang="en-US" sz="4400" b="0" i="0" u="none" strike="noStrike" dirty="0">
                <a:solidFill>
                  <a:srgbClr val="595959"/>
                </a:solidFill>
                <a:latin typeface="Pretendard Medium"/>
              </a:rPr>
              <a:t> </a:t>
            </a:r>
            <a:r>
              <a:rPr lang="ko-KR" sz="4400" b="0" i="0" u="none" strike="noStrike" dirty="0">
                <a:solidFill>
                  <a:srgbClr val="595959"/>
                </a:solidFill>
                <a:ea typeface="Pretendard Medium"/>
              </a:rPr>
              <a:t>방향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19201" y="5537200"/>
            <a:ext cx="1054100" cy="1066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000" b="0" i="0" u="none" strike="noStrike" spc="-360" dirty="0">
                <a:solidFill>
                  <a:srgbClr val="FFFFFF"/>
                </a:solidFill>
                <a:latin typeface="Pretendard Bold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55701" y="7620000"/>
            <a:ext cx="1206500" cy="1066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000" b="0" i="0" u="none" strike="noStrike" spc="-360">
                <a:solidFill>
                  <a:srgbClr val="FFFFFF"/>
                </a:solidFill>
                <a:latin typeface="Pretendard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43001" y="9690100"/>
            <a:ext cx="1358900" cy="1066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000" b="0" i="0" u="none" strike="noStrike" spc="-360">
                <a:solidFill>
                  <a:srgbClr val="FFFFFF"/>
                </a:solidFill>
                <a:latin typeface="Pretendard Bold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31101" y="5537200"/>
            <a:ext cx="1295400" cy="1066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000" b="0" i="0" u="none" strike="noStrike" spc="-360">
                <a:solidFill>
                  <a:srgbClr val="FFFFFF"/>
                </a:solidFill>
                <a:latin typeface="Pretendard Bold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43801" y="7620000"/>
            <a:ext cx="1270000" cy="1066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000" b="0" i="0" u="none" strike="noStrike" spc="-360">
                <a:solidFill>
                  <a:srgbClr val="FFFFFF"/>
                </a:solidFill>
                <a:latin typeface="Pretendard Bold"/>
              </a:rPr>
              <a:t>05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31101" y="9690100"/>
            <a:ext cx="1282700" cy="1066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000" b="0" i="0" u="none" strike="noStrike" spc="-360">
                <a:solidFill>
                  <a:srgbClr val="FFFFFF"/>
                </a:solidFill>
                <a:latin typeface="Pretendard Bold"/>
              </a:rPr>
              <a:t>06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35200" y="2349500"/>
            <a:ext cx="2717800" cy="1663700"/>
          </a:xfrm>
          <a:prstGeom prst="rect">
            <a:avLst/>
          </a:prstGeom>
        </p:spPr>
        <p:txBody>
          <a:bodyPr lIns="0" tIns="77046" rIns="0" bIns="0" rtlCol="0" anchor="t"/>
          <a:lstStyle/>
          <a:p>
            <a:pPr lvl="0" algn="l">
              <a:lnSpc>
                <a:spcPct val="105410"/>
              </a:lnSpc>
            </a:pPr>
            <a:r>
              <a:rPr lang="en" sz="9333" b="0" i="0" u="none" strike="noStrike" spc="-93">
                <a:solidFill>
                  <a:srgbClr val="787878"/>
                </a:solidFill>
                <a:ea typeface="Pretendard Black"/>
              </a:rPr>
              <a:t>목차</a:t>
            </a:r>
            <a:br>
              <a:rPr lang="en" sz="9333" b="0" i="0" u="none" strike="noStrike" spc="-93">
                <a:solidFill>
                  <a:srgbClr val="787878"/>
                </a:solidFill>
                <a:ea typeface="Pretendard Black"/>
              </a:rPr>
            </a:br>
            <a:endParaRPr lang="en" sz="9333" b="0" i="0" u="none" strike="noStrike" spc="-93">
              <a:solidFill>
                <a:srgbClr val="787878"/>
              </a:solidFill>
              <a:ea typeface="Pretendard Black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533900" y="2959100"/>
            <a:ext cx="3111500" cy="927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5200" b="0" i="0" u="none" strike="noStrike" spc="-208">
                <a:solidFill>
                  <a:srgbClr val="787878">
                    <a:alpha val="70196"/>
                  </a:srgbClr>
                </a:solidFill>
                <a:latin typeface="Pretendard SemiBold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739600" cy="228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87400"/>
            <a:ext cx="24853900" cy="22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2679700"/>
            <a:ext cx="22288500" cy="76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220700" y="9918700"/>
            <a:ext cx="6959600" cy="8255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8650"/>
              </a:lnSpc>
            </a:pPr>
            <a:r>
              <a:rPr lang="ko-KR" sz="4666" b="0" i="0" u="none" strike="noStrike" spc="-233">
                <a:solidFill>
                  <a:srgbClr val="595959"/>
                </a:solidFill>
                <a:ea typeface="Pretendard Bold"/>
              </a:rPr>
              <a:t>다담</a:t>
            </a:r>
            <a:r>
              <a:rPr lang="en-US" sz="4666" b="0" i="0" u="none" strike="noStrike" spc="-233">
                <a:solidFill>
                  <a:srgbClr val="595959"/>
                </a:solidFill>
                <a:latin typeface="Pretendard Bold"/>
              </a:rPr>
              <a:t> / Dadam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59000" y="1397000"/>
            <a:ext cx="6731000" cy="1333500"/>
          </a:xfrm>
          <a:prstGeom prst="rect">
            <a:avLst/>
          </a:prstGeom>
        </p:spPr>
        <p:txBody>
          <a:bodyPr lIns="0" tIns="61638" rIns="0" bIns="0" rtlCol="0" anchor="t"/>
          <a:lstStyle/>
          <a:p>
            <a:pPr lvl="0" algn="l">
              <a:lnSpc>
                <a:spcPct val="105410"/>
              </a:lnSpc>
            </a:pP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프로젝트</a:t>
            </a:r>
            <a:r>
              <a:rPr lang="en-US" sz="7466" b="0" i="0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소개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52900" y="9791700"/>
            <a:ext cx="6985000" cy="9525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8650"/>
              </a:lnSpc>
            </a:pPr>
            <a:r>
              <a:rPr lang="ko-KR" sz="5333" b="0" i="0" u="none" strike="noStrike" spc="-267">
                <a:solidFill>
                  <a:srgbClr val="595959"/>
                </a:solidFill>
                <a:ea typeface="Pretendard Bold"/>
              </a:rPr>
              <a:t>아우름</a:t>
            </a:r>
            <a:r>
              <a:rPr lang="en-US" sz="5333" b="0" i="0" u="none" strike="noStrike" spc="-267">
                <a:solidFill>
                  <a:srgbClr val="595959"/>
                </a:solidFill>
                <a:latin typeface="Pretendard Bold"/>
              </a:rPr>
              <a:t>/OURM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0800" y="4229100"/>
            <a:ext cx="5029200" cy="5029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 descr="상징, 폰트, 그래픽, 디자인이(가) 표시된 사진&#10;&#10;AI-generated content may be incorrect.">
            <a:extLst>
              <a:ext uri="{FF2B5EF4-FFF2-40B4-BE49-F238E27FC236}">
                <a16:creationId xmlns:a16="http://schemas.microsoft.com/office/drawing/2014/main" id="{D3B61B43-3BF6-98F4-F8C8-651E9CD72B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6050" y="4229100"/>
            <a:ext cx="5168900" cy="5168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739600" cy="228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87400"/>
            <a:ext cx="24853900" cy="22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2679700"/>
            <a:ext cx="22288500" cy="76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12839700" y="8204200"/>
            <a:ext cx="9423400" cy="3810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2171700" y="8204200"/>
            <a:ext cx="9423400" cy="3810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4097000" y="8305800"/>
            <a:ext cx="6921500" cy="596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8650"/>
              </a:lnSpc>
            </a:pPr>
            <a:r>
              <a:rPr lang="ko-KR" sz="3600" b="0" i="0" u="none" strike="noStrike" spc="-180" dirty="0">
                <a:solidFill>
                  <a:srgbClr val="595959"/>
                </a:solidFill>
                <a:ea typeface="Pretendard Bold"/>
              </a:rPr>
              <a:t>프로젝트</a:t>
            </a:r>
            <a:r>
              <a:rPr lang="en-US" sz="3600" b="0" i="0" u="none" strike="noStrike" spc="-180" dirty="0">
                <a:solidFill>
                  <a:srgbClr val="595959"/>
                </a:solidFill>
                <a:latin typeface="Pretendard Bold"/>
              </a:rPr>
              <a:t> </a:t>
            </a:r>
            <a:r>
              <a:rPr lang="ko-KR" sz="3600" b="0" i="0" u="none" strike="noStrike" spc="-180" dirty="0">
                <a:solidFill>
                  <a:srgbClr val="595959"/>
                </a:solidFill>
                <a:ea typeface="Pretendard Bold"/>
              </a:rPr>
              <a:t>필요성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58065" y="9393866"/>
            <a:ext cx="7683500" cy="1828800"/>
          </a:xfrm>
          <a:prstGeom prst="rect">
            <a:avLst/>
          </a:prstGeom>
        </p:spPr>
        <p:txBody>
          <a:bodyPr rtlCol="0" anchor="t"/>
          <a:lstStyle/>
          <a:p>
            <a:pPr>
              <a:lnSpc>
                <a:spcPct val="118689"/>
              </a:lnSpc>
            </a:pPr>
            <a:r>
              <a:rPr lang="en-US" altLang="ko-KR" sz="2533" b="0" i="0" u="none" strike="noStrike" dirty="0">
                <a:solidFill>
                  <a:srgbClr val="595959"/>
                </a:solidFill>
                <a:ea typeface="Pretendard Regular"/>
              </a:rPr>
              <a:t>-  </a:t>
            </a:r>
            <a:r>
              <a:rPr lang="ko-KR" altLang="ko-KR" sz="2533" b="0" i="0" u="none" strike="noStrike" dirty="0">
                <a:solidFill>
                  <a:srgbClr val="595959"/>
                </a:solidFill>
                <a:ea typeface="Pretendard Regular"/>
              </a:rPr>
              <a:t>새로운</a:t>
            </a:r>
            <a:r>
              <a:rPr lang="en-US" altLang="ko-KR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altLang="ko-KR" sz="2533" b="0" i="0" u="none" strike="noStrike" dirty="0">
                <a:solidFill>
                  <a:srgbClr val="595959"/>
                </a:solidFill>
                <a:ea typeface="Pretendard Regular"/>
              </a:rPr>
              <a:t>방식의</a:t>
            </a:r>
            <a:r>
              <a:rPr lang="en-US" altLang="ko-KR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altLang="ko-KR" sz="2533" b="0" i="0" u="none" strike="noStrike" dirty="0">
                <a:solidFill>
                  <a:srgbClr val="595959"/>
                </a:solidFill>
                <a:ea typeface="Pretendard Regular"/>
              </a:rPr>
              <a:t>소통</a:t>
            </a:r>
            <a:r>
              <a:rPr lang="en-US" altLang="ko-KR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altLang="ko-KR" sz="2533" b="0" i="0" u="none" strike="noStrike" dirty="0">
                <a:solidFill>
                  <a:srgbClr val="595959"/>
                </a:solidFill>
                <a:ea typeface="Pretendard Regular"/>
              </a:rPr>
              <a:t>도구</a:t>
            </a:r>
          </a:p>
          <a:p>
            <a:pPr lvl="0">
              <a:lnSpc>
                <a:spcPct val="118689"/>
              </a:lnSpc>
            </a:pPr>
            <a:r>
              <a:rPr lang="en-US" altLang="ko-KR" sz="2533" b="0" i="0" u="none" strike="noStrike" dirty="0">
                <a:solidFill>
                  <a:srgbClr val="595959"/>
                </a:solidFill>
                <a:ea typeface="Pretendard Regular"/>
              </a:rPr>
              <a:t>- 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단절된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가족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대화에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물꼬를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트고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유대감을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강화</a:t>
            </a:r>
            <a:endParaRPr lang="en-US" altLang="ko-KR" sz="2533" b="0" i="0" u="none" strike="noStrike" dirty="0">
              <a:solidFill>
                <a:srgbClr val="595959"/>
              </a:solidFill>
              <a:ea typeface="Pretendard Regular"/>
            </a:endParaRPr>
          </a:p>
          <a:p>
            <a:pPr lvl="0">
              <a:lnSpc>
                <a:spcPct val="118689"/>
              </a:lnSpc>
            </a:pPr>
            <a:r>
              <a:rPr lang="en-US" altLang="ko-KR" sz="2533" dirty="0">
                <a:solidFill>
                  <a:srgbClr val="595959"/>
                </a:solidFill>
                <a:ea typeface="Pretendard Regular"/>
              </a:rPr>
              <a:t>-  </a:t>
            </a:r>
            <a:r>
              <a:rPr lang="ko-KR" altLang="en-US" sz="2533" dirty="0">
                <a:solidFill>
                  <a:srgbClr val="595959"/>
                </a:solidFill>
                <a:ea typeface="Pretendard Regular"/>
              </a:rPr>
              <a:t>평소에 하기 어려운 깊이 있는 대화 주제 제공</a:t>
            </a:r>
            <a:endParaRPr lang="en-US" altLang="ko-KR" sz="2533" dirty="0">
              <a:solidFill>
                <a:srgbClr val="595959"/>
              </a:solidFill>
              <a:ea typeface="Pretendard Regular"/>
            </a:endParaRPr>
          </a:p>
          <a:p>
            <a:pPr lvl="0">
              <a:lnSpc>
                <a:spcPct val="118689"/>
              </a:lnSpc>
            </a:pPr>
            <a:r>
              <a:rPr lang="en-US" altLang="ko-KR" sz="2533" b="0" i="0" u="none" strike="noStrike" dirty="0">
                <a:solidFill>
                  <a:srgbClr val="595959"/>
                </a:solidFill>
                <a:ea typeface="Pretendard Regular"/>
              </a:rPr>
              <a:t>-  </a:t>
            </a:r>
            <a:r>
              <a:rPr lang="ko-KR" altLang="en-US" sz="2533" b="0" i="0" u="none" strike="noStrike" dirty="0">
                <a:solidFill>
                  <a:srgbClr val="595959"/>
                </a:solidFill>
                <a:ea typeface="Pretendard Regular"/>
              </a:rPr>
              <a:t>가족 간 정서적 유대감 강화</a:t>
            </a:r>
            <a:endParaRPr lang="ko-KR" sz="2533" b="0" i="0" u="none" strike="noStrike" dirty="0">
              <a:solidFill>
                <a:srgbClr val="595959"/>
              </a:solidFill>
              <a:ea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124200" y="8382000"/>
            <a:ext cx="7124700" cy="5969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8650"/>
              </a:lnSpc>
            </a:pPr>
            <a:r>
              <a:rPr lang="ko-KR" sz="3600" b="0" i="0" u="none" strike="noStrike" spc="-180" dirty="0">
                <a:solidFill>
                  <a:srgbClr val="595959"/>
                </a:solidFill>
                <a:ea typeface="Pretendard Bold"/>
              </a:rPr>
              <a:t>문제</a:t>
            </a:r>
            <a:r>
              <a:rPr lang="en-US" sz="3600" b="0" i="0" u="none" strike="noStrike" spc="-180" dirty="0">
                <a:solidFill>
                  <a:srgbClr val="595959"/>
                </a:solidFill>
                <a:latin typeface="Pretendard Bold"/>
              </a:rPr>
              <a:t> </a:t>
            </a:r>
            <a:r>
              <a:rPr lang="ko-KR" sz="3600" b="0" i="0" u="none" strike="noStrike" spc="-180" dirty="0">
                <a:solidFill>
                  <a:srgbClr val="595959"/>
                </a:solidFill>
                <a:ea typeface="Pretendard Bold"/>
              </a:rPr>
              <a:t>인식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59000" y="1397000"/>
            <a:ext cx="8293100" cy="1333500"/>
          </a:xfrm>
          <a:prstGeom prst="rect">
            <a:avLst/>
          </a:prstGeom>
        </p:spPr>
        <p:txBody>
          <a:bodyPr lIns="0" tIns="61638" rIns="0" bIns="0" rtlCol="0" anchor="t"/>
          <a:lstStyle/>
          <a:p>
            <a:pPr lvl="0" algn="l">
              <a:lnSpc>
                <a:spcPct val="105410"/>
              </a:lnSpc>
            </a:pP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개발</a:t>
            </a:r>
            <a:r>
              <a:rPr lang="en-US" sz="7466" b="0" i="0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배경</a:t>
            </a:r>
            <a:r>
              <a:rPr lang="en-US" sz="7466" b="0" i="0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및</a:t>
            </a:r>
            <a:r>
              <a:rPr lang="en-US" sz="7466" b="0" i="0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목적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52800" y="9404499"/>
            <a:ext cx="5715000" cy="22860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8689"/>
              </a:lnSpc>
            </a:pPr>
            <a:r>
              <a:rPr lang="en-US" altLang="ko-KR" sz="2533" b="0" i="0" u="none" strike="noStrike" dirty="0">
                <a:solidFill>
                  <a:srgbClr val="595959"/>
                </a:solidFill>
                <a:ea typeface="Pretendard Regular"/>
              </a:rPr>
              <a:t>- 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개인주의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심화</a:t>
            </a:r>
            <a:endParaRPr lang="en-US" altLang="ko-KR" sz="2533" b="0" i="0" u="none" strike="noStrike" dirty="0">
              <a:solidFill>
                <a:srgbClr val="595959"/>
              </a:solidFill>
              <a:ea typeface="Pretendard Regular"/>
            </a:endParaRPr>
          </a:p>
          <a:p>
            <a:pPr lvl="0">
              <a:lnSpc>
                <a:spcPct val="118689"/>
              </a:lnSpc>
            </a:pPr>
            <a:r>
              <a:rPr lang="en-US" altLang="ko-KR" sz="2533" b="0" i="0" u="none" strike="noStrike" dirty="0">
                <a:solidFill>
                  <a:srgbClr val="595959"/>
                </a:solidFill>
                <a:ea typeface="Pretendard Regular"/>
              </a:rPr>
              <a:t>- 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세대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간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대화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부족과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소통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단절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증가</a:t>
            </a:r>
            <a:b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</a:br>
            <a:r>
              <a:rPr lang="en-US" altLang="ko-KR" sz="2533" b="0" i="0" u="none" strike="noStrike" dirty="0">
                <a:solidFill>
                  <a:srgbClr val="595959"/>
                </a:solidFill>
                <a:ea typeface="Pretendard Regular"/>
              </a:rPr>
              <a:t>- 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일상</a:t>
            </a:r>
            <a:r>
              <a:rPr lang="en-US" altLang="ko-KR" sz="2533" b="0" i="0" u="none" strike="noStrike" dirty="0">
                <a:solidFill>
                  <a:srgbClr val="595959"/>
                </a:solidFill>
                <a:ea typeface="Pretendard Regular"/>
              </a:rPr>
              <a:t> </a:t>
            </a:r>
            <a:r>
              <a:rPr lang="ko-KR" altLang="en-US" sz="2533" b="0" i="0" u="none" strike="noStrike" dirty="0">
                <a:solidFill>
                  <a:srgbClr val="595959"/>
                </a:solidFill>
                <a:ea typeface="Pretendard Regular"/>
              </a:rPr>
              <a:t>대화 이외의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깊이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있는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대화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부족</a:t>
            </a:r>
          </a:p>
          <a:p>
            <a:pPr lvl="0">
              <a:lnSpc>
                <a:spcPct val="118689"/>
              </a:lnSpc>
            </a:pPr>
            <a:r>
              <a:rPr lang="en-US" altLang="ko-KR" sz="2533" b="0" i="0" u="none" strike="noStrike" dirty="0">
                <a:solidFill>
                  <a:srgbClr val="595959"/>
                </a:solidFill>
                <a:ea typeface="Pretendard Regular"/>
              </a:rPr>
              <a:t>- 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가족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간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정서적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유대감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약화의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주요</a:t>
            </a:r>
            <a:r>
              <a:rPr lang="en-US" sz="2533" b="0" i="0" u="none" strike="noStrike" dirty="0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33" b="0" i="0" u="none" strike="noStrike" dirty="0">
                <a:solidFill>
                  <a:srgbClr val="595959"/>
                </a:solidFill>
                <a:ea typeface="Pretendard Regular"/>
              </a:rPr>
              <a:t>원인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0" y="3581400"/>
            <a:ext cx="7073900" cy="4419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39700" y="4051300"/>
            <a:ext cx="9512300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1000"/>
          </a:blip>
          <a:stretch>
            <a:fillRect/>
          </a:stretch>
        </p:blipFill>
        <p:spPr>
          <a:xfrm>
            <a:off x="18834100" y="4533900"/>
            <a:ext cx="4152900" cy="781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739600" cy="22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87400"/>
            <a:ext cx="24853900" cy="228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0" y="2679700"/>
            <a:ext cx="22288500" cy="76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1000"/>
          </a:blip>
          <a:stretch>
            <a:fillRect/>
          </a:stretch>
        </p:blipFill>
        <p:spPr>
          <a:xfrm>
            <a:off x="5016500" y="4533900"/>
            <a:ext cx="4152900" cy="7810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778500" y="1727200"/>
            <a:ext cx="4292600" cy="660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3733" b="0" i="0" u="none" strike="noStrike" spc="-149" dirty="0">
                <a:solidFill>
                  <a:srgbClr val="787878">
                    <a:alpha val="70196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Database + DevOps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59000" y="1397000"/>
            <a:ext cx="3568700" cy="1333500"/>
          </a:xfrm>
          <a:prstGeom prst="rect">
            <a:avLst/>
          </a:prstGeom>
        </p:spPr>
        <p:txBody>
          <a:bodyPr lIns="0" tIns="61638" rIns="0" bIns="0" rtlCol="0" anchor="t"/>
          <a:lstStyle/>
          <a:p>
            <a:pPr lvl="0" algn="l">
              <a:lnSpc>
                <a:spcPct val="105410"/>
              </a:lnSpc>
            </a:pPr>
            <a:r>
              <a:rPr lang="en" sz="7466" b="0" i="0" u="none" strike="noStrike" dirty="0">
                <a:solidFill>
                  <a:srgbClr val="787878"/>
                </a:solidFill>
                <a:ea typeface="Pretendard Black"/>
              </a:rPr>
              <a:t>개발환경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40400" y="3619500"/>
            <a:ext cx="27051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3857" b="0" i="0" u="none" strike="noStrike">
                <a:solidFill>
                  <a:srgbClr val="000000"/>
                </a:solidFill>
                <a:latin typeface="Pretendard Regular"/>
              </a:rPr>
              <a:t>DataBase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9100" y="6515100"/>
            <a:ext cx="3200400" cy="3200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13500" y="8623300"/>
            <a:ext cx="3594100" cy="1701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>
            <a:alphaModFix amt="71000"/>
          </a:blip>
          <a:stretch>
            <a:fillRect/>
          </a:stretch>
        </p:blipFill>
        <p:spPr>
          <a:xfrm>
            <a:off x="9626600" y="4495800"/>
            <a:ext cx="4152900" cy="7810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0350500" y="3581400"/>
            <a:ext cx="27051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3857" b="0" i="0" u="none" strike="noStrike">
                <a:solidFill>
                  <a:srgbClr val="000000"/>
                </a:solidFill>
                <a:latin typeface="Pretendard Regular"/>
              </a:rPr>
              <a:t>Backend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alphaModFix amt="71000"/>
          </a:blip>
          <a:stretch>
            <a:fillRect/>
          </a:stretch>
        </p:blipFill>
        <p:spPr>
          <a:xfrm>
            <a:off x="14224000" y="4533900"/>
            <a:ext cx="4152900" cy="7810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4947900" y="3619500"/>
            <a:ext cx="27051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3857" b="0" i="0" u="none" strike="noStrike">
                <a:solidFill>
                  <a:srgbClr val="000000"/>
                </a:solidFill>
                <a:latin typeface="Pretendard Regular"/>
              </a:rPr>
              <a:t>Frontend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481800" y="3619500"/>
            <a:ext cx="28702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3857" b="0" i="0" u="none" strike="noStrike">
                <a:solidFill>
                  <a:srgbClr val="000000"/>
                </a:solidFill>
                <a:latin typeface="Pretendard Regular"/>
              </a:rPr>
              <a:t>Deployment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113500" y="6667500"/>
            <a:ext cx="3594100" cy="1612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82900" y="5092700"/>
            <a:ext cx="1460500" cy="2082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82900" y="7340600"/>
            <a:ext cx="1447800" cy="2133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392400" y="9893300"/>
            <a:ext cx="1816100" cy="1854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53332" y="4953000"/>
            <a:ext cx="2843032" cy="1714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11034" y="6934200"/>
            <a:ext cx="3389533" cy="1551142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76400" y="7371147"/>
            <a:ext cx="2120900" cy="1805194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80600" y="8877300"/>
            <a:ext cx="3644900" cy="1028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63798" y="4920987"/>
            <a:ext cx="1752600" cy="1709003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4D653C9-BE1F-557D-14E8-14EA5348CE5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49621" y="9998148"/>
            <a:ext cx="1812852" cy="1812852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A6D7A45-4A42-37E2-14B4-81277EB934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04231" y="10194662"/>
            <a:ext cx="3644900" cy="10829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61526111-C889-A61A-1088-9DFFF506D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2679700"/>
            <a:ext cx="22288500" cy="76200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62E312C8-868A-F82B-BA6D-1804FEBE549A}"/>
              </a:ext>
            </a:extLst>
          </p:cNvPr>
          <p:cNvSpPr txBox="1"/>
          <p:nvPr/>
        </p:nvSpPr>
        <p:spPr>
          <a:xfrm>
            <a:off x="5778500" y="1727200"/>
            <a:ext cx="4292600" cy="660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733" b="0" i="0" u="none" strike="noStrike" spc="-149" dirty="0">
                <a:solidFill>
                  <a:srgbClr val="787878">
                    <a:alpha val="70196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문서화 </a:t>
            </a:r>
            <a:r>
              <a:rPr lang="en-US" altLang="ko-KR" sz="3733" b="0" i="0" u="none" strike="noStrike" spc="-149" dirty="0">
                <a:solidFill>
                  <a:srgbClr val="787878">
                    <a:alpha val="70196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&amp; </a:t>
            </a:r>
            <a:r>
              <a:rPr lang="ko-KR" altLang="en-US" sz="3733" b="0" i="0" u="none" strike="noStrike" spc="-149" dirty="0">
                <a:solidFill>
                  <a:srgbClr val="787878">
                    <a:alpha val="70196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협업 툴</a:t>
            </a:r>
            <a:endParaRPr lang="en" sz="3733" b="0" i="0" u="none" strike="noStrike" spc="-149" dirty="0">
              <a:solidFill>
                <a:srgbClr val="787878">
                  <a:alpha val="70196"/>
                </a:srgb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A14BF942-1B3B-3FDF-5B42-927C199B7607}"/>
              </a:ext>
            </a:extLst>
          </p:cNvPr>
          <p:cNvSpPr txBox="1"/>
          <p:nvPr/>
        </p:nvSpPr>
        <p:spPr>
          <a:xfrm>
            <a:off x="2159000" y="1397000"/>
            <a:ext cx="3568700" cy="1333500"/>
          </a:xfrm>
          <a:prstGeom prst="rect">
            <a:avLst/>
          </a:prstGeom>
        </p:spPr>
        <p:txBody>
          <a:bodyPr lIns="0" tIns="61638" rIns="0" bIns="0" rtlCol="0" anchor="t"/>
          <a:lstStyle/>
          <a:p>
            <a:pPr lvl="0" algn="l">
              <a:lnSpc>
                <a:spcPct val="105410"/>
              </a:lnSpc>
            </a:pPr>
            <a:r>
              <a:rPr lang="en" sz="7466" b="0" i="0" u="none" strike="noStrike" dirty="0">
                <a:solidFill>
                  <a:srgbClr val="787878"/>
                </a:solidFill>
                <a:ea typeface="Pretendard Black"/>
              </a:rPr>
              <a:t>개발환경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A0AB4E-5C1A-7EA8-6B0B-4D9BC60169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25"/>
          <a:stretch/>
        </p:blipFill>
        <p:spPr>
          <a:xfrm>
            <a:off x="1769465" y="2819660"/>
            <a:ext cx="9338869" cy="105095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5DBD13D-C2C2-4B0A-C422-B7FE301E1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6686" y="2911403"/>
            <a:ext cx="6691630" cy="100452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36A3C2A-8663-ADC9-40CD-0B6A1E131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5200" y="4134498"/>
            <a:ext cx="5013927" cy="7713077"/>
          </a:xfrm>
          <a:prstGeom prst="rect">
            <a:avLst/>
          </a:prstGeom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5B507E54-7D89-45AC-D7A1-26BF2D673C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4739600" cy="228600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44711BD6-E13F-8737-5A48-2585E67BF4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3487400"/>
            <a:ext cx="248539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7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739600" cy="228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87400"/>
            <a:ext cx="24853900" cy="22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2679700"/>
            <a:ext cx="22288500" cy="76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2171700" y="6451600"/>
            <a:ext cx="20624800" cy="3378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2171700" y="2870200"/>
            <a:ext cx="20624800" cy="3378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4900" y="3048000"/>
            <a:ext cx="3492500" cy="299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7600" y="6642100"/>
            <a:ext cx="3492500" cy="299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19786600" y="4622800"/>
            <a:ext cx="2184400" cy="1612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19837400" y="7874000"/>
            <a:ext cx="2082800" cy="19431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478772" y="3788292"/>
            <a:ext cx="12877800" cy="1752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JWT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기반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회원가입</a:t>
            </a:r>
            <a:r>
              <a:rPr lang="en-US" alt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암호화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프로필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</a:t>
            </a:r>
            <a:r>
              <a:rPr lang="en-US" alt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역할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b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초대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코드를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통해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 그룹별 공간 제공</a:t>
            </a:r>
            <a:endParaRPr lang="ko-KR" sz="32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493745" y="3742060"/>
            <a:ext cx="3238500" cy="1454727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8650"/>
              </a:lnSpc>
            </a:pPr>
            <a:r>
              <a:rPr lang="ko-KR" sz="4400" b="0" i="0" u="none" strike="noStrike" dirty="0">
                <a:solidFill>
                  <a:srgbClr val="FFFFFF"/>
                </a:solidFill>
                <a:ea typeface="Pretendard Bold"/>
              </a:rPr>
              <a:t>사용자</a:t>
            </a:r>
            <a:r>
              <a:rPr lang="en-US" sz="4400" b="0" i="0" u="none" strike="noStrike" dirty="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400" b="0" i="0" u="none" strike="noStrike" dirty="0">
                <a:solidFill>
                  <a:srgbClr val="FFFFFF"/>
                </a:solidFill>
                <a:ea typeface="Pretendard Bold"/>
              </a:rPr>
              <a:t>인증</a:t>
            </a:r>
            <a:endParaRPr lang="en-US" sz="4400" b="0" i="0" u="none" strike="noStrike" dirty="0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374900" y="7721600"/>
            <a:ext cx="3454400" cy="787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8650"/>
              </a:lnSpc>
            </a:pPr>
            <a:r>
              <a:rPr lang="ko-KR" altLang="en-US" sz="4400" dirty="0">
                <a:solidFill>
                  <a:srgbClr val="FFFFFF"/>
                </a:solidFill>
                <a:ea typeface="Pretendard Bold"/>
              </a:rPr>
              <a:t>오늘의 </a:t>
            </a:r>
            <a:r>
              <a:rPr lang="ko-KR" sz="4400" b="0" i="0" u="none" strike="noStrike" dirty="0">
                <a:solidFill>
                  <a:srgbClr val="FFFFFF"/>
                </a:solidFill>
                <a:ea typeface="Pretendard Bold"/>
              </a:rPr>
              <a:t>질문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59000" y="1397000"/>
            <a:ext cx="11633200" cy="1397000"/>
          </a:xfrm>
          <a:prstGeom prst="rect">
            <a:avLst/>
          </a:prstGeom>
        </p:spPr>
        <p:txBody>
          <a:bodyPr lIns="0" tIns="61638" rIns="0" bIns="0" rtlCol="0" anchor="t"/>
          <a:lstStyle/>
          <a:p>
            <a:pPr lvl="0" algn="l">
              <a:lnSpc>
                <a:spcPct val="105410"/>
              </a:lnSpc>
            </a:pPr>
            <a:r>
              <a:rPr lang="ko-KR" sz="7466" b="0" i="0" u="none" strike="noStrike" dirty="0">
                <a:solidFill>
                  <a:srgbClr val="787878"/>
                </a:solidFill>
                <a:ea typeface="Pretendard Black"/>
              </a:rPr>
              <a:t>프로젝트</a:t>
            </a:r>
            <a:r>
              <a:rPr lang="en-US" sz="7466" b="0" i="0" u="none" strike="noStrike" dirty="0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 dirty="0">
                <a:solidFill>
                  <a:srgbClr val="787878"/>
                </a:solidFill>
                <a:ea typeface="Pretendard Black"/>
              </a:rPr>
              <a:t>주요</a:t>
            </a:r>
            <a:r>
              <a:rPr lang="en-US" sz="7466" b="0" i="0" u="none" strike="noStrike" dirty="0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 dirty="0">
                <a:solidFill>
                  <a:srgbClr val="787878"/>
                </a:solidFill>
                <a:ea typeface="Pretendard Black"/>
              </a:rPr>
              <a:t>기능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53200" y="7239000"/>
            <a:ext cx="12877800" cy="1752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-  1</a:t>
            </a:r>
            <a:r>
              <a:rPr lang="ko-KR" altLang="en-US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일 </a:t>
            </a:r>
            <a:r>
              <a:rPr lang="en-US" altLang="ko-KR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1</a:t>
            </a:r>
            <a:r>
              <a:rPr lang="ko-KR" altLang="en-US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회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다양한 </a:t>
            </a:r>
            <a:r>
              <a:rPr lang="ko-KR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질문</a:t>
            </a:r>
            <a:r>
              <a:rPr lang="ko-KR" altLang="en-US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을</a:t>
            </a:r>
            <a:r>
              <a:rPr lang="en-US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 </a:t>
            </a:r>
            <a:r>
              <a:rPr lang="ko-KR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자동</a:t>
            </a:r>
            <a:r>
              <a:rPr lang="en-US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 </a:t>
            </a:r>
            <a:r>
              <a:rPr lang="ko-KR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생성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anose="020F0502020204030204" pitchFamily="34" charset="0"/>
            </a:endParaRPr>
          </a:p>
          <a:p>
            <a:pPr lvl="0">
              <a:lnSpc>
                <a:spcPct val="116199"/>
              </a:lnSpc>
            </a:pPr>
            <a:r>
              <a:rPr lang="en-US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-  </a:t>
            </a:r>
            <a:r>
              <a:rPr lang="ko-KR" altLang="en-US" sz="320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질문별</a:t>
            </a:r>
            <a:r>
              <a:rPr lang="ko-KR" altLang="en-US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 하나의 답변 작성</a:t>
            </a:r>
            <a:r>
              <a:rPr lang="en-US" altLang="ko-KR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, </a:t>
            </a:r>
            <a:r>
              <a:rPr lang="ko-KR" altLang="en-US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댓글로 자유로운 소통</a:t>
            </a:r>
            <a:endParaRPr lang="en-US" altLang="ko-KR" sz="320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anose="020F0502020204030204" pitchFamily="34" charset="0"/>
            </a:endParaRPr>
          </a:p>
          <a:p>
            <a:pPr lvl="0">
              <a:lnSpc>
                <a:spcPct val="116199"/>
              </a:lnSpc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-  </a:t>
            </a:r>
            <a:r>
              <a:rPr lang="ko-KR" altLang="en-US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참신한 대화 주제를 제공해 </a:t>
            </a:r>
            <a:r>
              <a:rPr lang="ko-KR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자연스러운</a:t>
            </a:r>
            <a:r>
              <a:rPr lang="en-US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 </a:t>
            </a:r>
            <a:r>
              <a:rPr lang="ko-KR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대화</a:t>
            </a:r>
            <a:r>
              <a:rPr lang="en-US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 </a:t>
            </a:r>
            <a:r>
              <a:rPr lang="ko-KR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흐름</a:t>
            </a:r>
            <a:r>
              <a:rPr lang="en-US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 </a:t>
            </a:r>
            <a:r>
              <a:rPr lang="ko-KR" sz="320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형성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2171700" y="10045700"/>
            <a:ext cx="20624800" cy="3378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7600" y="10223500"/>
            <a:ext cx="3492500" cy="2997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19837400" y="11811000"/>
            <a:ext cx="2184400" cy="1612900"/>
          </a:xfrm>
          <a:prstGeom prst="rect">
            <a:avLst/>
          </a:prstGeom>
        </p:spPr>
      </p:pic>
      <p:sp>
        <p:nvSpPr>
          <p:cNvPr id="21" name="TextBox 13"/>
          <p:cNvSpPr txBox="1"/>
          <p:nvPr/>
        </p:nvSpPr>
        <p:spPr>
          <a:xfrm>
            <a:off x="2413000" y="10936654"/>
            <a:ext cx="3454400" cy="16002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8650"/>
              </a:lnSpc>
            </a:pPr>
            <a:r>
              <a:rPr lang="ko-KR" altLang="en-US" sz="4400" b="0" i="0" u="none" strike="noStrike" dirty="0">
                <a:solidFill>
                  <a:srgbClr val="FFFFFF"/>
                </a:solidFill>
                <a:ea typeface="Pretendard Bold"/>
              </a:rPr>
              <a:t>가족 </a:t>
            </a:r>
            <a:r>
              <a:rPr lang="ko-KR" sz="4400" b="0" i="0" u="none" strike="noStrike" dirty="0">
                <a:solidFill>
                  <a:srgbClr val="FFFFFF"/>
                </a:solidFill>
                <a:ea typeface="Pretendard Bold"/>
              </a:rPr>
              <a:t>캘린더</a:t>
            </a:r>
            <a:endParaRPr lang="en-US" sz="4400" b="0" i="0" u="none" strike="noStrike" dirty="0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22" name="TextBox 15"/>
          <p:cNvSpPr txBox="1"/>
          <p:nvPr/>
        </p:nvSpPr>
        <p:spPr>
          <a:xfrm>
            <a:off x="6553200" y="10963031"/>
            <a:ext cx="12877800" cy="16510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외식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행사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여행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일정을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공유</a:t>
            </a:r>
            <a:b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별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정리로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그룹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일정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한눈에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파악</a:t>
            </a:r>
            <a:b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대화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기능과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자연스럽게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연결되는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이벤트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739600" cy="228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87400"/>
            <a:ext cx="24853900" cy="22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2679700"/>
            <a:ext cx="22288500" cy="76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2159000" y="8267700"/>
            <a:ext cx="20624800" cy="3378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2159000" y="4178300"/>
            <a:ext cx="20624800" cy="3378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4900" y="4368800"/>
            <a:ext cx="3492500" cy="299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7600" y="8458200"/>
            <a:ext cx="3492500" cy="299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19786600" y="5943600"/>
            <a:ext cx="2184400" cy="1612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19824700" y="9702800"/>
            <a:ext cx="2082800" cy="19431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553200" y="5092700"/>
            <a:ext cx="12877800" cy="16510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취향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관심사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공유를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위한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양자택일형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콘텐츠</a:t>
            </a:r>
            <a:b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사용자의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결과를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집계하여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구성원별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경향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시각화</a:t>
            </a:r>
            <a:b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간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의견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차이를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자연스럽게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확인하는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소통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요소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01900" y="5080000"/>
            <a:ext cx="3238500" cy="16002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8650"/>
              </a:lnSpc>
            </a:pPr>
            <a:r>
              <a:rPr lang="ko-KR" sz="4400" b="0" i="0" u="none" strike="noStrike" dirty="0">
                <a:solidFill>
                  <a:srgbClr val="FFFFFF"/>
                </a:solidFill>
                <a:ea typeface="Pretendard Bold"/>
              </a:rPr>
              <a:t>밸런스</a:t>
            </a:r>
            <a:r>
              <a:rPr lang="en-US" sz="4400" b="0" i="0" u="none" strike="noStrike" dirty="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400" b="0" i="0" u="none" strike="noStrike" dirty="0">
                <a:solidFill>
                  <a:srgbClr val="FFFFFF"/>
                </a:solidFill>
                <a:ea typeface="Pretendard Bold"/>
              </a:rPr>
              <a:t>게임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59000" y="1397000"/>
            <a:ext cx="11633200" cy="1397000"/>
          </a:xfrm>
          <a:prstGeom prst="rect">
            <a:avLst/>
          </a:prstGeom>
        </p:spPr>
        <p:txBody>
          <a:bodyPr lIns="0" tIns="61638" rIns="0" bIns="0" rtlCol="0" anchor="t"/>
          <a:lstStyle/>
          <a:p>
            <a:pPr lvl="0" algn="l">
              <a:lnSpc>
                <a:spcPct val="105410"/>
              </a:lnSpc>
            </a:pPr>
            <a:r>
              <a:rPr lang="ko-KR" sz="7466" b="0" i="0" u="none" strike="noStrike" dirty="0">
                <a:solidFill>
                  <a:srgbClr val="787878"/>
                </a:solidFill>
                <a:ea typeface="Pretendard Black"/>
              </a:rPr>
              <a:t>프로젝트</a:t>
            </a:r>
            <a:r>
              <a:rPr lang="en-US" sz="7466" b="0" i="0" u="none" strike="noStrike" dirty="0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 dirty="0">
                <a:solidFill>
                  <a:srgbClr val="787878"/>
                </a:solidFill>
                <a:ea typeface="Pretendard Black"/>
              </a:rPr>
              <a:t>주요</a:t>
            </a:r>
            <a:r>
              <a:rPr lang="en-US" sz="7466" b="0" i="0" u="none" strike="noStrike" dirty="0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 dirty="0">
                <a:solidFill>
                  <a:srgbClr val="787878"/>
                </a:solidFill>
                <a:ea typeface="Pretendard Black"/>
              </a:rPr>
              <a:t>기능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29400" y="9079230"/>
            <a:ext cx="12877800" cy="196977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세대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간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언어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차이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완화</a:t>
            </a:r>
            <a:endParaRPr lang="en-US" altLang="ko-KR" sz="32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사용자 참여도 증가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커뮤니티 활성화 효과</a:t>
            </a:r>
            <a:endParaRPr lang="en-US" altLang="ko-KR" sz="32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514600" y="9042156"/>
            <a:ext cx="3238500" cy="176022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8650"/>
              </a:lnSpc>
            </a:pPr>
            <a:r>
              <a:rPr lang="ko-KR" sz="4400" b="0" i="0" u="none" strike="noStrike" dirty="0">
                <a:solidFill>
                  <a:srgbClr val="FFFFFF"/>
                </a:solidFill>
                <a:ea typeface="Pretendard Bold"/>
              </a:rPr>
              <a:t>신조어</a:t>
            </a:r>
            <a:r>
              <a:rPr lang="en-US" sz="4400" b="0" i="0" u="none" strike="noStrike" dirty="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400" b="0" i="0" u="none" strike="noStrike" dirty="0">
                <a:solidFill>
                  <a:srgbClr val="FFFFFF"/>
                </a:solidFill>
                <a:ea typeface="Pretendard Bold"/>
              </a:rPr>
              <a:t>퀴즈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739600" cy="228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87400"/>
            <a:ext cx="24853900" cy="22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2179300" y="5854700"/>
            <a:ext cx="825500" cy="101600"/>
          </a:xfrm>
          <a:prstGeom prst="rect">
            <a:avLst/>
          </a:prstGeom>
          <a:effectLst>
            <a:outerShdw blurRad="4064" dist="9378" dir="18900000">
              <a:srgbClr val="000000">
                <a:alpha val="5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0" y="2679700"/>
            <a:ext cx="22288500" cy="76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1000"/>
          </a:blip>
          <a:stretch>
            <a:fillRect/>
          </a:stretch>
        </p:blipFill>
        <p:spPr>
          <a:xfrm>
            <a:off x="2330450" y="6294804"/>
            <a:ext cx="20421600" cy="5207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4300" y="4076700"/>
            <a:ext cx="9677400" cy="15748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257550" y="7121525"/>
            <a:ext cx="20116800" cy="360045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50000"/>
              </a:lnSpc>
            </a:pPr>
            <a:r>
              <a:rPr lang="en-US" altLang="ko-KR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평소 나누기 어려운 주제를 질문과 퀴즈를 통해 자연스럽게 대화할 수 있도록 유도</a:t>
            </a:r>
            <a:endParaRPr lang="en-US" altLang="ko-KR" sz="3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행사</a:t>
            </a:r>
            <a:r>
              <a:rPr lang="en-US" altLang="ko-KR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여행 약속 기능을 통해 실제 만남과 활동으로 이어지게 한다</a:t>
            </a:r>
            <a:r>
              <a:rPr lang="en-US" altLang="ko-KR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altLang="ko-KR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대화</a:t>
            </a:r>
            <a:r>
              <a:rPr lang="en-US" altLang="ko-KR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생각</a:t>
            </a:r>
            <a:r>
              <a:rPr lang="en-US" altLang="ko-KR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취향들을 모아 앨범처럼 보관 → 나중에는 소중한 추억이 된다</a:t>
            </a:r>
            <a:r>
              <a:rPr lang="en-US" altLang="ko-KR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altLang="ko-KR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다양한 그룹으로 확장하여 </a:t>
            </a:r>
            <a:r>
              <a:rPr lang="ko-KR" altLang="en-US" sz="3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아이스브레이킹</a:t>
            </a:r>
            <a:r>
              <a:rPr lang="ko-KR" altLang="en-US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및 비전 공유를 위한 도구로 활용</a:t>
            </a:r>
            <a:endParaRPr lang="ko-KR" sz="3600" b="0" i="0" u="none" strike="noStrike" dirty="0">
              <a:solidFill>
                <a:srgbClr val="59595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372600" y="4463326"/>
            <a:ext cx="6553200" cy="794474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8650"/>
              </a:lnSpc>
            </a:pP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프로젝트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의의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및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사회적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가치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59000" y="1397000"/>
            <a:ext cx="9525000" cy="1333500"/>
          </a:xfrm>
          <a:prstGeom prst="rect">
            <a:avLst/>
          </a:prstGeom>
        </p:spPr>
        <p:txBody>
          <a:bodyPr lIns="0" tIns="61638" rIns="0" bIns="0" rtlCol="0" anchor="t"/>
          <a:lstStyle/>
          <a:p>
            <a:pPr lvl="0" algn="l">
              <a:lnSpc>
                <a:spcPct val="105410"/>
              </a:lnSpc>
            </a:pP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기대효과</a:t>
            </a:r>
            <a:r>
              <a:rPr lang="en-US" sz="7466" b="0" i="0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및</a:t>
            </a:r>
            <a:r>
              <a:rPr lang="en-US" sz="7466" b="0" i="0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활용</a:t>
            </a:r>
            <a:r>
              <a:rPr lang="en-US" sz="7466" b="0" i="0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분야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739600" cy="228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87400"/>
            <a:ext cx="24853900" cy="22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2679700"/>
            <a:ext cx="22288500" cy="76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2159000" y="8267700"/>
            <a:ext cx="20624800" cy="3378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2209800" y="4178300"/>
            <a:ext cx="20624800" cy="3378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4900" y="4368800"/>
            <a:ext cx="3492500" cy="299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7600" y="8458200"/>
            <a:ext cx="3492500" cy="299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19786600" y="5943600"/>
            <a:ext cx="2184400" cy="1612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19824700" y="9702800"/>
            <a:ext cx="2082800" cy="19431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502400" y="4724400"/>
            <a:ext cx="13779500" cy="26416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질문에 대한 답변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분석 및 피드백</a:t>
            </a:r>
            <a:b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 만족도 평가 시행 및 결과 피드백</a:t>
            </a:r>
            <a:b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AI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 추천 및 감성 분석 로직을 자체 개발하여 외부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API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의존도 낮추기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
-  AI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오류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대비</a:t>
            </a:r>
            <a:r>
              <a: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fallback </a:t>
            </a:r>
            <a:r>
              <a:rPr 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62200" y="5488354"/>
            <a:ext cx="3505200" cy="787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8650"/>
              </a:lnSpc>
            </a:pPr>
            <a:r>
              <a:rPr lang="en-US" sz="4400" b="0" i="0" u="none" strike="noStrike" dirty="0">
                <a:solidFill>
                  <a:srgbClr val="FFFFFF"/>
                </a:solidFill>
                <a:latin typeface="Pretendard Bold"/>
              </a:rPr>
              <a:t>AI </a:t>
            </a:r>
            <a:r>
              <a:rPr lang="ko-KR" sz="4400" b="0" i="0" u="none" strike="noStrike" dirty="0">
                <a:solidFill>
                  <a:srgbClr val="FFFFFF"/>
                </a:solidFill>
                <a:ea typeface="Pretendard Bold"/>
              </a:rPr>
              <a:t>고도화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59000" y="1397000"/>
            <a:ext cx="11633200" cy="1397000"/>
          </a:xfrm>
          <a:prstGeom prst="rect">
            <a:avLst/>
          </a:prstGeom>
        </p:spPr>
        <p:txBody>
          <a:bodyPr lIns="0" tIns="61638" rIns="0" bIns="0" rtlCol="0" anchor="t"/>
          <a:lstStyle/>
          <a:p>
            <a:pPr lvl="0" algn="l">
              <a:lnSpc>
                <a:spcPct val="105410"/>
              </a:lnSpc>
            </a:pP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향후</a:t>
            </a:r>
            <a:r>
              <a:rPr lang="en-US" sz="7466" b="0" i="0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기능</a:t>
            </a:r>
            <a:r>
              <a:rPr lang="en-US" sz="7466" b="0" i="0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확장</a:t>
            </a:r>
            <a:r>
              <a:rPr lang="en-US" sz="7466" b="0" i="0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방향</a:t>
            </a:r>
          </a:p>
        </p:txBody>
      </p:sp>
      <p:sp>
        <p:nvSpPr>
          <p:cNvPr id="16" name="TextBox 13"/>
          <p:cNvSpPr txBox="1"/>
          <p:nvPr/>
        </p:nvSpPr>
        <p:spPr>
          <a:xfrm>
            <a:off x="2208823" y="9120554"/>
            <a:ext cx="3860800" cy="16002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8650"/>
              </a:lnSpc>
            </a:pPr>
            <a:r>
              <a:rPr lang="ko-KR" altLang="en-US" sz="4400" b="0" i="0" u="none" strike="noStrike" dirty="0">
                <a:solidFill>
                  <a:srgbClr val="FFFFFF"/>
                </a:solidFill>
                <a:ea typeface="Pretendard Bold"/>
              </a:rPr>
              <a:t>데이터 시각화</a:t>
            </a:r>
            <a:endParaRPr lang="ko-KR" sz="44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6489700" y="9079523"/>
            <a:ext cx="15913100" cy="21971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가족이 나눈 대화 데이터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긍정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부정 감성 비율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주요 언급 키워드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답변 빈도 등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분석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“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 소통 지수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또는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관심사 </a:t>
            </a:r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일치율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등의 지표를 시각적으로 제공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가족이 스스로 소통 상태를 점검하고 개선하도록 유도</a:t>
            </a:r>
            <a:endParaRPr lang="ko-KR" sz="3097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739600" cy="228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87400"/>
            <a:ext cx="24853900" cy="22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2679700"/>
            <a:ext cx="22288500" cy="76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2159000" y="8267700"/>
            <a:ext cx="20624800" cy="3378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2159000" y="4178300"/>
            <a:ext cx="20624800" cy="3378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4900" y="4368800"/>
            <a:ext cx="3492500" cy="299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7600" y="8458200"/>
            <a:ext cx="3492500" cy="299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19786600" y="5943600"/>
            <a:ext cx="2184400" cy="1612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19824700" y="9702800"/>
            <a:ext cx="2082800" cy="19431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502400" y="9137162"/>
            <a:ext cx="12877800" cy="19431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평소 하기 어려운 오글거리는 사랑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응원 메시지를 예약 업로드</a:t>
            </a:r>
            <a:endParaRPr lang="en-US" altLang="ko-KR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예약한 메시지는 다음날 새벽에 공개</a:t>
            </a:r>
            <a:endParaRPr lang="en-US" altLang="ko-KR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새벽 무음 알림 또는 아침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 알림 제공</a:t>
            </a:r>
            <a:r>
              <a:rPr lang="en-US" altLang="ko-KR" sz="3097" dirty="0">
                <a:solidFill>
                  <a:srgbClr val="59595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endParaRPr lang="ko-KR" sz="3097" b="0" i="0" u="none" strike="noStrike" dirty="0">
              <a:solidFill>
                <a:srgbClr val="59595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362200" y="9131300"/>
            <a:ext cx="3505200" cy="16002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8650"/>
              </a:lnSpc>
            </a:pPr>
            <a:r>
              <a:rPr lang="ko-KR" altLang="en-US" sz="4400" b="0" i="0" u="none" strike="noStrike" dirty="0">
                <a:solidFill>
                  <a:srgbClr val="FFFFFF"/>
                </a:solidFill>
                <a:ea typeface="Pretendard Bold"/>
              </a:rPr>
              <a:t>오늘의</a:t>
            </a:r>
            <a:br>
              <a:rPr lang="en-US" altLang="ko-KR" sz="4400" b="0" i="0" u="none" strike="noStrike" dirty="0">
                <a:solidFill>
                  <a:srgbClr val="FFFFFF"/>
                </a:solidFill>
                <a:ea typeface="Pretendard Bold"/>
              </a:rPr>
            </a:br>
            <a:r>
              <a:rPr lang="ko-KR" altLang="en-US" sz="4400" b="0" i="0" u="none" strike="noStrike" dirty="0" err="1">
                <a:solidFill>
                  <a:srgbClr val="FFFFFF"/>
                </a:solidFill>
                <a:ea typeface="Pretendard Bold"/>
              </a:rPr>
              <a:t>몰래말함</a:t>
            </a:r>
            <a:endParaRPr lang="ko-KR" sz="44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159000" y="1397000"/>
            <a:ext cx="11633200" cy="1397000"/>
          </a:xfrm>
          <a:prstGeom prst="rect">
            <a:avLst/>
          </a:prstGeom>
        </p:spPr>
        <p:txBody>
          <a:bodyPr lIns="0" tIns="61638" rIns="0" bIns="0" rtlCol="0" anchor="t"/>
          <a:lstStyle/>
          <a:p>
            <a:pPr lvl="0" algn="l">
              <a:lnSpc>
                <a:spcPct val="105410"/>
              </a:lnSpc>
            </a:pP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향후</a:t>
            </a:r>
            <a:r>
              <a:rPr lang="en-US" sz="7466" b="0" i="0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기능</a:t>
            </a:r>
            <a:r>
              <a:rPr lang="en-US" sz="7466" b="0" i="0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확장</a:t>
            </a:r>
            <a:r>
              <a:rPr lang="en-US" sz="7466" b="0" i="0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방향</a:t>
            </a:r>
          </a:p>
        </p:txBody>
      </p:sp>
      <p:sp>
        <p:nvSpPr>
          <p:cNvPr id="16" name="TextBox 13"/>
          <p:cNvSpPr txBox="1"/>
          <p:nvPr/>
        </p:nvSpPr>
        <p:spPr>
          <a:xfrm>
            <a:off x="2159000" y="5029200"/>
            <a:ext cx="3860800" cy="16002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8650"/>
              </a:lnSpc>
            </a:pPr>
            <a:r>
              <a:rPr lang="ko-KR" altLang="en-US" sz="4400" dirty="0">
                <a:solidFill>
                  <a:srgbClr val="FFFFFF"/>
                </a:solidFill>
                <a:ea typeface="Pretendard Bold"/>
              </a:rPr>
              <a:t>기존 기능</a:t>
            </a:r>
            <a:br>
              <a:rPr lang="en-US" altLang="ko-KR" sz="4400" dirty="0">
                <a:solidFill>
                  <a:srgbClr val="FFFFFF"/>
                </a:solidFill>
                <a:ea typeface="Pretendard Bold"/>
              </a:rPr>
            </a:br>
            <a:r>
              <a:rPr lang="ko-KR" altLang="en-US" sz="4400" dirty="0">
                <a:solidFill>
                  <a:srgbClr val="FFFFFF"/>
                </a:solidFill>
                <a:ea typeface="Pretendard Bold"/>
              </a:rPr>
              <a:t>업데이트</a:t>
            </a:r>
            <a:endParaRPr lang="en" sz="44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6502400" y="4800600"/>
            <a:ext cx="12877800" cy="21971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답변 독촉 </a:t>
            </a:r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푸시알림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기능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약속 신청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/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투표 기능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수익 모델 도입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모바일 앱 출시</a:t>
            </a:r>
            <a:endParaRPr lang="ko-KR" sz="3097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739600" cy="228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87400"/>
            <a:ext cx="24853900" cy="22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2679700"/>
            <a:ext cx="22288500" cy="76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2159000" y="8267700"/>
            <a:ext cx="20624800" cy="3378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2159000" y="4178300"/>
            <a:ext cx="20624800" cy="3378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4900" y="4368800"/>
            <a:ext cx="3492500" cy="299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7600" y="8458200"/>
            <a:ext cx="3492500" cy="299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19786600" y="5943600"/>
            <a:ext cx="2184400" cy="1612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19824700" y="9702800"/>
            <a:ext cx="2082800" cy="19431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502400" y="8991600"/>
            <a:ext cx="12877800" cy="1943100"/>
          </a:xfrm>
          <a:prstGeom prst="rect">
            <a:avLst/>
          </a:prstGeom>
        </p:spPr>
        <p:txBody>
          <a:bodyPr rtlCol="0" anchor="t"/>
          <a:lstStyle/>
          <a:p>
            <a:pPr marL="457200" lvl="0" indent="-457200">
              <a:lnSpc>
                <a:spcPct val="116199"/>
              </a:lnSpc>
              <a:buFontTx/>
              <a:buChar char="-"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JUnit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단위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통합 테스트 도입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0" indent="-457200">
              <a:lnSpc>
                <a:spcPct val="116199"/>
              </a:lnSpc>
              <a:buFontTx/>
              <a:buChar char="-"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GitHub Actions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기반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CI/CD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파이프라인 구축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0" indent="-457200">
              <a:lnSpc>
                <a:spcPct val="116199"/>
              </a:lnSpc>
              <a:buFontTx/>
              <a:buChar char="-"/>
            </a:pPr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캐싱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도입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DB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인덱싱 최적화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쿼리 튜닝을 통한 성능 개선</a:t>
            </a:r>
            <a:endParaRPr lang="ko-KR" sz="3097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362200" y="9131300"/>
            <a:ext cx="3505200" cy="16002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8650"/>
              </a:lnSpc>
            </a:pPr>
            <a:r>
              <a:rPr lang="ko-KR" altLang="en-US" sz="4400" b="0" i="0" u="none" strike="noStrike" dirty="0">
                <a:solidFill>
                  <a:srgbClr val="FFFFFF"/>
                </a:solidFill>
                <a:ea typeface="Pretendard Bold"/>
              </a:rPr>
              <a:t>개발</a:t>
            </a:r>
            <a:endParaRPr lang="en-US" altLang="ko-KR" sz="4400" b="0" i="0" u="none" strike="noStrike" dirty="0">
              <a:solidFill>
                <a:srgbClr val="FFFFFF"/>
              </a:solidFill>
              <a:ea typeface="Pretendard Bold"/>
            </a:endParaRPr>
          </a:p>
          <a:p>
            <a:pPr lvl="0" algn="ctr">
              <a:lnSpc>
                <a:spcPct val="128650"/>
              </a:lnSpc>
            </a:pPr>
            <a:r>
              <a:rPr lang="ko-KR" altLang="en-US" sz="4400" dirty="0">
                <a:solidFill>
                  <a:srgbClr val="FFFFFF"/>
                </a:solidFill>
                <a:ea typeface="Pretendard Bold"/>
              </a:rPr>
              <a:t>프로세스</a:t>
            </a:r>
            <a:endParaRPr lang="ko-KR" sz="44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159000" y="1397000"/>
            <a:ext cx="11633200" cy="1397000"/>
          </a:xfrm>
          <a:prstGeom prst="rect">
            <a:avLst/>
          </a:prstGeom>
        </p:spPr>
        <p:txBody>
          <a:bodyPr lIns="0" tIns="61638" rIns="0" bIns="0" rtlCol="0" anchor="t"/>
          <a:lstStyle/>
          <a:p>
            <a:pPr lvl="0" algn="l">
              <a:lnSpc>
                <a:spcPct val="105410"/>
              </a:lnSpc>
            </a:pP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향후</a:t>
            </a:r>
            <a:r>
              <a:rPr lang="en-US" sz="7466" b="0" i="0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기능</a:t>
            </a:r>
            <a:r>
              <a:rPr lang="en-US" sz="7466" b="0" i="0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확장</a:t>
            </a:r>
            <a:r>
              <a:rPr lang="en-US" sz="7466" b="0" i="0" u="none" strike="noStrike">
                <a:solidFill>
                  <a:srgbClr val="787878"/>
                </a:solidFill>
                <a:latin typeface="Pretendard Black"/>
              </a:rPr>
              <a:t> </a:t>
            </a:r>
            <a:r>
              <a:rPr lang="ko-KR" sz="7466" b="0" i="0" u="none" strike="noStrike">
                <a:solidFill>
                  <a:srgbClr val="787878"/>
                </a:solidFill>
                <a:ea typeface="Pretendard Black"/>
              </a:rPr>
              <a:t>방향</a:t>
            </a:r>
          </a:p>
        </p:txBody>
      </p:sp>
      <p:sp>
        <p:nvSpPr>
          <p:cNvPr id="16" name="TextBox 13"/>
          <p:cNvSpPr txBox="1"/>
          <p:nvPr/>
        </p:nvSpPr>
        <p:spPr>
          <a:xfrm>
            <a:off x="2159000" y="5029200"/>
            <a:ext cx="3860800" cy="16002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8650"/>
              </a:lnSpc>
            </a:pPr>
            <a:r>
              <a:rPr lang="ko-KR" altLang="en-US" sz="4400" b="0" i="0" u="none" strike="noStrike" dirty="0">
                <a:solidFill>
                  <a:srgbClr val="FFFFFF"/>
                </a:solidFill>
                <a:ea typeface="Pretendard Bold"/>
              </a:rPr>
              <a:t>시스템</a:t>
            </a:r>
            <a:endParaRPr lang="en-US" altLang="ko-KR" sz="4400" b="0" i="0" u="none" strike="noStrike" dirty="0">
              <a:solidFill>
                <a:srgbClr val="FFFFFF"/>
              </a:solidFill>
              <a:ea typeface="Pretendard Bold"/>
            </a:endParaRPr>
          </a:p>
          <a:p>
            <a:pPr lvl="0" algn="ctr">
              <a:lnSpc>
                <a:spcPct val="128650"/>
              </a:lnSpc>
            </a:pPr>
            <a:r>
              <a:rPr lang="en-US" sz="4400" dirty="0">
                <a:solidFill>
                  <a:srgbClr val="FFFFFF"/>
                </a:solidFill>
                <a:ea typeface="Pretendard Bold"/>
              </a:rPr>
              <a:t>&amp; </a:t>
            </a:r>
            <a:r>
              <a:rPr lang="ko-KR" altLang="en-US" sz="4400" dirty="0">
                <a:solidFill>
                  <a:srgbClr val="FFFFFF"/>
                </a:solidFill>
                <a:ea typeface="Pretendard Bold"/>
              </a:rPr>
              <a:t>운영</a:t>
            </a:r>
            <a:endParaRPr lang="en" sz="4400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6502400" y="4953000"/>
            <a:ext cx="12877800" cy="2197100"/>
          </a:xfrm>
          <a:prstGeom prst="rect">
            <a:avLst/>
          </a:prstGeom>
        </p:spPr>
        <p:txBody>
          <a:bodyPr rtlCol="0" anchor="t"/>
          <a:lstStyle/>
          <a:p>
            <a:pPr marL="457200" lvl="0" indent="-457200">
              <a:lnSpc>
                <a:spcPct val="116199"/>
              </a:lnSpc>
              <a:buFontTx/>
              <a:buChar char="-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로컬 저장 방식 → </a:t>
            </a: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AWS S3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 클라우드 스토리지로 이전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0" indent="-457200">
              <a:lnSpc>
                <a:spcPct val="116199"/>
              </a:lnSpc>
              <a:buFontTx/>
              <a:buChar char="-"/>
            </a:pP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인증 구조 고도화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0" indent="-457200">
              <a:lnSpc>
                <a:spcPct val="116199"/>
              </a:lnSpc>
              <a:buFontTx/>
              <a:buChar char="-"/>
            </a:pPr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Redis 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기반 </a:t>
            </a:r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분산락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및 원자적 연산 도입 검토</a:t>
            </a:r>
            <a:endParaRPr lang="ko-KR" sz="3097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5703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00" y="1092200"/>
            <a:ext cx="214503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00" y="12598400"/>
            <a:ext cx="214503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30300" y="6845300"/>
            <a:ext cx="7366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2567900" y="6845300"/>
            <a:ext cx="736600" cy="2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584700" y="5994400"/>
            <a:ext cx="15214600" cy="1727200"/>
          </a:xfrm>
          <a:prstGeom prst="rect">
            <a:avLst/>
          </a:prstGeom>
        </p:spPr>
        <p:txBody>
          <a:bodyPr lIns="0" tIns="12361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9733" b="0" i="0" u="none" strike="noStrike" spc="-195" dirty="0">
                <a:solidFill>
                  <a:schemeClr val="tx1">
                    <a:lumMod val="75000"/>
                    <a:lumOff val="25000"/>
                  </a:schemeClr>
                </a:solidFill>
                <a:ea typeface="Pretendard ExtraBold"/>
              </a:rPr>
              <a:t>감사합니다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74300" y="5029200"/>
            <a:ext cx="3835400" cy="520700"/>
          </a:xfrm>
          <a:prstGeom prst="rect">
            <a:avLst/>
          </a:prstGeom>
        </p:spPr>
        <p:txBody>
          <a:bodyPr lIns="0" tIns="372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933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/>
              </a:rPr>
              <a:t>thank you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739600" cy="228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87400"/>
            <a:ext cx="24853900" cy="22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2679700"/>
            <a:ext cx="22288500" cy="76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398000" y="5308600"/>
            <a:ext cx="6324600" cy="3416300"/>
          </a:xfrm>
          <a:prstGeom prst="rect">
            <a:avLst/>
          </a:prstGeom>
        </p:spPr>
        <p:txBody>
          <a:bodyPr lIns="0" tIns="158496" rIns="0" bIns="0" rtlCol="0" anchor="t"/>
          <a:lstStyle/>
          <a:p>
            <a:pPr lvl="0" algn="l">
              <a:lnSpc>
                <a:spcPct val="105410"/>
              </a:lnSpc>
            </a:pPr>
            <a:r>
              <a:rPr lang="en" sz="19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Black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559</Words>
  <Application>Microsoft Office PowerPoint</Application>
  <PresentationFormat>사용자 지정</PresentationFormat>
  <Paragraphs>93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4" baseType="lpstr">
      <vt:lpstr>Pretendard SemiBold</vt:lpstr>
      <vt:lpstr>Calibri</vt:lpstr>
      <vt:lpstr>나눔고딕</vt:lpstr>
      <vt:lpstr>Pretendard ExtraBold</vt:lpstr>
      <vt:lpstr>Pretendard Medium</vt:lpstr>
      <vt:lpstr>Pretendard Black</vt:lpstr>
      <vt:lpstr>Pretendard Regular</vt:lpstr>
      <vt:lpstr>Pretendard 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수진 윤</cp:lastModifiedBy>
  <cp:revision>14</cp:revision>
  <dcterms:created xsi:type="dcterms:W3CDTF">2006-08-16T00:00:00Z</dcterms:created>
  <dcterms:modified xsi:type="dcterms:W3CDTF">2025-12-12T00:13:29Z</dcterms:modified>
</cp:coreProperties>
</file>